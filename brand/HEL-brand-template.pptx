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640080"/>
            <a:ext cx="548640" cy="5486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71323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BRAND TEMPLATE · FOR THE AI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7863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5400" b="1" i="0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54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5400" b="1" i="0">
                <a:solidFill>
                  <a:srgbClr val="16211D"/>
                </a:solidFill>
                <a:latin typeface="Fraunces"/>
              </a:rPr>
              <a:t> consectetur.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237744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5394960"/>
            <a:ext cx="237744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DOLOR SIT AMET</a:t>
            </a:r>
          </a:p>
        </p:txBody>
      </p:sp>
      <p:sp>
        <p:nvSpPr>
          <p:cNvPr id="10" name="Oval 9"/>
          <p:cNvSpPr/>
          <p:nvPr/>
        </p:nvSpPr>
        <p:spPr>
          <a:xfrm>
            <a:off x="10309860" y="1737360"/>
            <a:ext cx="2171700" cy="2171700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9052560" y="2766060"/>
            <a:ext cx="1828800" cy="2400300"/>
          </a:xfrm>
          <a:prstGeom prst="round2SameRect">
            <a:avLst>
              <a:gd name="adj1" fmla="val 100000"/>
              <a:gd name="adj2" fmla="val 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07424" y="3066097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07424" y="3366135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07424" y="3666172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07424" y="3966210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07424" y="4266247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07424" y="4566285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07424" y="4866322"/>
            <a:ext cx="1691640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>
            <a:off x="10995660" y="3623310"/>
            <a:ext cx="1600200" cy="1543050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1240000">
            <a:off x="9452610" y="3737610"/>
            <a:ext cx="2114550" cy="457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01 · COLOUR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02052" y="649224"/>
            <a:ext cx="872794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Colours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Ink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#16211D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Text, borders, dark bands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Paper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#FBFAF6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Page + slide background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16211D"/>
                </a:solidFill>
                <a:latin typeface="Fraunces"/>
              </a:rPr>
              <a:t>Mint</a:t>
            </a:r>
          </a:p>
          <a:p>
            <a:pPr algn="ctr"/>
            <a:r>
              <a:rPr sz="1100" b="1" i="0">
                <a:solidFill>
                  <a:srgbClr val="16211D"/>
                </a:solidFill>
                <a:latin typeface="Space Mono"/>
              </a:rPr>
              <a:t>#93D9C2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Accent fills, pills, highlights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17705A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Mint deep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#17705A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Labels, emphasis, links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1828800"/>
            <a:ext cx="2011680" cy="2377440"/>
          </a:xfrm>
          <a:prstGeom prst="roundRect">
            <a:avLst>
              <a:gd name="adj" fmla="val 9000"/>
            </a:avLst>
          </a:prstGeom>
          <a:solidFill>
            <a:srgbClr val="56605B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 i="0">
                <a:solidFill>
                  <a:srgbClr val="FBFAF6"/>
                </a:solidFill>
                <a:latin typeface="Fraunces"/>
              </a:rPr>
              <a:t>Grey</a:t>
            </a:r>
          </a:p>
          <a:p>
            <a:pPr algn="ctr"/>
            <a:r>
              <a:rPr sz="1100" b="1" i="0">
                <a:solidFill>
                  <a:srgbClr val="FBFAF6"/>
                </a:solidFill>
                <a:latin typeface="Space Mono"/>
              </a:rPr>
              <a:t>#56605B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438912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Secondary body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778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16211D"/>
                </a:solidFill>
                <a:latin typeface="Work Sans"/>
              </a:rPr>
              <a:t>Usage: </a:t>
            </a:r>
            <a:r>
              <a:rPr sz="1200" b="0" i="0">
                <a:solidFill>
                  <a:srgbClr val="56605B"/>
                </a:solidFill>
                <a:latin typeface="Work Sans"/>
              </a:rPr>
              <a:t>paper backgrounds, ink type, mint in small confident doses. Join phrases with + instead of dashes. Lorem ipsum dolor sit amet, consectetur adipiscing elit.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02 · TYPOGRAPHY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2354580" y="649224"/>
            <a:ext cx="907541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Type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76656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FRAUNCES · HEADLINES + DISPLAY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34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200" b="0" i="1">
                <a:solidFill>
                  <a:srgbClr val="16211D"/>
                </a:solidFill>
                <a:latin typeface="Fraunces"/>
              </a:rPr>
              <a:t>Lorem ipsum dolor </a:t>
            </a:r>
            <a:r>
              <a:rPr sz="2200" b="0" i="1">
                <a:solidFill>
                  <a:srgbClr val="17705A"/>
                </a:solidFill>
                <a:latin typeface="Fraunces"/>
              </a:rPr>
              <a:t>sit amet</a:t>
            </a:r>
            <a:r>
              <a:rPr sz="2200" b="0" i="1">
                <a:solidFill>
                  <a:srgbClr val="16211D"/>
                </a:solidFill>
                <a:latin typeface="Fraunces"/>
              </a:rPr>
              <a:t> — italic accents in mint deep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WORK SANS · BODY COPY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3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 Cras mattis consectetur purus sit amet fermentum.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600" b="0" i="0">
                <a:solidFill>
                  <a:srgbClr val="16211D"/>
                </a:solidFill>
                <a:latin typeface="Work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SPACE MONO · LABELS, PILLS + NUMBERS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00" b="1" i="0" spc="160">
                <a:solidFill>
                  <a:srgbClr val="16211D"/>
                </a:solidFill>
                <a:latin typeface="Space Mono"/>
              </a:rPr>
              <a:t>LOREM IPSUM · DOLOR SIT · 20+ AMET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828800"/>
            <a:ext cx="3566160" cy="39319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Fonts to install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All free on Google Fonts: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fonts.google.com/specimen/Fraunces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fonts.google.com/specimen/Work+Sans</a:t>
            </a:r>
          </a:p>
          <a:p>
            <a:pPr algn="l"/>
            <a:r>
              <a:rPr sz="950" b="1" i="0">
                <a:solidFill>
                  <a:srgbClr val="17705A"/>
                </a:solidFill>
                <a:latin typeface="Space Mono"/>
              </a:rPr>
              <a:t>fonts.google.com/specimen/Space+Mono</a:t>
            </a:r>
          </a:p>
          <a:p>
            <a:pPr algn="l"/>
            <a:r>
              <a:rPr sz="1050" b="0" i="0">
                <a:solidFill>
                  <a:srgbClr val="56605B"/>
                </a:solidFill>
                <a:latin typeface="Work Sans"/>
              </a:rPr>
              <a:t>Install before editing so text renders in brand type.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03 · LOGO + 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8315" y="649224"/>
            <a:ext cx="890168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Logo + marks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103120"/>
            <a:ext cx="1005840" cy="100584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H roundel</a:t>
            </a:r>
          </a:p>
        </p:txBody>
      </p:sp>
      <p:sp>
        <p:nvSpPr>
          <p:cNvPr id="8" name="Oval 7"/>
          <p:cNvSpPr/>
          <p:nvPr/>
        </p:nvSpPr>
        <p:spPr>
          <a:xfrm>
            <a:off x="3291840" y="2240280"/>
            <a:ext cx="475488" cy="475488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 i="0">
                <a:solidFill>
                  <a:srgbClr val="16211D"/>
                </a:solidFill>
                <a:latin typeface="Space Mono"/>
              </a:rPr>
              <a:t>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860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 spc="150">
                <a:solidFill>
                  <a:srgbClr val="16211D"/>
                </a:solidFill>
                <a:latin typeface="Space Mono"/>
              </a:rPr>
              <a:t>HUMAN EDGE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291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Lockup: roundel + wordmark in Space Mono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06240"/>
            <a:ext cx="3749039" cy="384048"/>
          </a:xfrm>
          <a:prstGeom prst="roundRect">
            <a:avLst>
              <a:gd name="adj" fmla="val 50000"/>
            </a:avLst>
          </a:prstGeom>
          <a:solidFill>
            <a:srgbClr val="FBFAF6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40">
                <a:solidFill>
                  <a:srgbClr val="16211D"/>
                </a:solidFill>
                <a:latin typeface="Space Mono"/>
              </a:rPr>
              <a:t>PROFOUNDLY HUMAN · LOREM IPSUM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251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Kicker pill: outlined, Space Mono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16211D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40">
                <a:solidFill>
                  <a:srgbClr val="93D9C2"/>
                </a:solidFill>
                <a:latin typeface="Space Mono"/>
              </a:rPr>
              <a:t>ON DARK: </a:t>
            </a:r>
            <a:r>
              <a:rPr sz="1300" b="0" i="0">
                <a:solidFill>
                  <a:srgbClr val="FBFAF6"/>
                </a:solidFill>
                <a:latin typeface="Work Sans"/>
              </a:rPr>
              <a:t>  mint labels + paper text. Lorem ipsum dolor sit amet.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04 · BUTTONS + LABELS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75788" y="649224"/>
            <a:ext cx="8554211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Buttons, pills +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PRIMARY · MINT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103120"/>
            <a:ext cx="2651760" cy="475488"/>
          </a:xfrm>
          <a:prstGeom prst="roundRect">
            <a:avLst>
              <a:gd name="adj" fmla="val 50000"/>
            </a:avLst>
          </a:prstGeom>
          <a:solidFill>
            <a:srgbClr val="16211D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FBFAF6"/>
                </a:solidFill>
                <a:latin typeface="Space Mono"/>
              </a:rPr>
              <a:t>STANDARD · 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2651760" cy="475488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GHOST · OUTLINE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Primary carries the hard offset shadow. One primary per slide; lorem ipsum dolor sit amet.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SECTION LABEL · LOREM IPSUM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39" y="3657600"/>
            <a:ext cx="758952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act-label: mono caps in mint deep + 2pt ink rule to the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6344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0" b="1" i="0" spc="12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46634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SKILL 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Mint tags + chips for topics and categories. Join with + (never dashes): Lorem + Ipsum + Dolor.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05 ·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0239" y="649224"/>
            <a:ext cx="9509759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Lorem ipsum</a:t>
            </a:r>
          </a:p>
          <a:p>
            <a:pPr algn="l"/>
            <a:r>
              <a:rPr sz="11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950" b="1" i="0" spc="140">
                <a:solidFill>
                  <a:srgbClr val="17705A"/>
                </a:solidFill>
                <a:latin typeface="Space Mono"/>
              </a:rPr>
              <a:t>CLUSTER 01</a:t>
            </a:r>
          </a:p>
          <a:p>
            <a:pPr algn="l"/>
            <a:r>
              <a:rPr sz="1600" b="1" i="0">
                <a:solidFill>
                  <a:srgbClr val="16211D"/>
                </a:solidFill>
                <a:latin typeface="Fraunces"/>
              </a:rPr>
              <a:t>Dolor sit amet</a:t>
            </a:r>
          </a:p>
          <a:p>
            <a:pPr algn="l"/>
            <a:r>
              <a:rPr sz="1100" b="0" i="1">
                <a:solidFill>
                  <a:srgbClr val="17705A"/>
                </a:solidFill>
                <a:latin typeface="Fraunces"/>
              </a:rPr>
              <a:t>the lorem ipsum</a:t>
            </a:r>
          </a:p>
          <a:p>
            <a:pPr algn="l"/>
            <a:r>
              <a:rPr sz="1100" b="0" i="0">
                <a:solidFill>
                  <a:srgbClr val="16211D"/>
                </a:solidFill>
                <a:latin typeface="Work Sans"/>
              </a:rPr>
              <a:t>Lorem ipsum dolor sit amet, consectetur adipiscing elit.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2606040" cy="3017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95160" y="219456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900" b="1" i="0" spc="100">
                <a:solidFill>
                  <a:srgbClr val="16211D"/>
                </a:solidFill>
                <a:latin typeface="Space Mono"/>
              </a:rPr>
              <a:t>LOREM TAG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88920"/>
            <a:ext cx="2057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6211D"/>
                </a:solidFill>
                <a:latin typeface="Fraunces"/>
              </a:rPr>
              <a:t>Ipsum dolor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56605B"/>
                </a:solidFill>
                <a:latin typeface="Work Sans"/>
              </a:rPr>
              <a:t>Lorem ipsum dolor sit amet, consectetur adipiscing elit. Cras mattis purus.</a:t>
            </a:r>
          </a:p>
        </p:txBody>
      </p:sp>
      <p:sp>
        <p:nvSpPr>
          <p:cNvPr id="11" name="Rounded Rectangle 10"/>
          <p:cNvSpPr/>
          <p:nvPr/>
        </p:nvSpPr>
        <p:spPr>
          <a:xfrm rot="21540000">
            <a:off x="9372600" y="192024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EXPERIENCE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20+ lorem ipsum dolor sit</a:t>
            </a:r>
          </a:p>
        </p:txBody>
      </p:sp>
      <p:sp>
        <p:nvSpPr>
          <p:cNvPr id="12" name="Rounded Rectangle 11"/>
          <p:cNvSpPr/>
          <p:nvPr/>
        </p:nvSpPr>
        <p:spPr>
          <a:xfrm rot="60000">
            <a:off x="9464040" y="3566160"/>
            <a:ext cx="2103120" cy="1371600"/>
          </a:xfrm>
          <a:prstGeom prst="roundRect">
            <a:avLst>
              <a:gd name="adj" fmla="val 14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850" b="1" i="0" spc="120">
                <a:solidFill>
                  <a:srgbClr val="17705A"/>
                </a:solidFill>
                <a:latin typeface="Space Mono"/>
              </a:rPr>
              <a:t>CRAFT</a:t>
            </a:r>
          </a:p>
          <a:p>
            <a:pPr algn="l"/>
            <a:r>
              <a:rPr sz="1100" b="1" i="0">
                <a:solidFill>
                  <a:srgbClr val="16211D"/>
                </a:solidFill>
                <a:latin typeface="Work Sans"/>
              </a:rPr>
              <a:t>Lorem ipsum + dolor amet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White card · mint cluster card · tag card · ticket cards (tilted 1–2°). All carry the 2.5pt ink border + hard shadow.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06 · BRAND 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2267712" y="649224"/>
            <a:ext cx="9162288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600" b="1" i="0">
                <a:solidFill>
                  <a:srgbClr val="16211D"/>
                </a:solidFill>
                <a:latin typeface="Fraunces"/>
              </a:rPr>
              <a:t>Cut-paper art + dividers</a:t>
            </a:r>
          </a:p>
        </p:txBody>
      </p:sp>
      <p:sp>
        <p:nvSpPr>
          <p:cNvPr id="6" name="Oval 5"/>
          <p:cNvSpPr/>
          <p:nvPr/>
        </p:nvSpPr>
        <p:spPr>
          <a:xfrm>
            <a:off x="2203704" y="2011680"/>
            <a:ext cx="1911095" cy="1911095"/>
          </a:xfrm>
          <a:prstGeom prst="ellipse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1097280" y="2916936"/>
            <a:ext cx="1609344" cy="2112264"/>
          </a:xfrm>
          <a:prstGeom prst="round2SameRect">
            <a:avLst>
              <a:gd name="adj1" fmla="val 100000"/>
              <a:gd name="adj2" fmla="val 0"/>
            </a:avLst>
          </a:prstGeom>
          <a:solidFill>
            <a:srgbClr val="FFFFFF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52144" y="3180969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2144" y="3445002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2144" y="3709035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2144" y="3973068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2144" y="4237101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2144" y="4501134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52144" y="4765167"/>
            <a:ext cx="1488643" cy="2032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2807208" y="3671316"/>
            <a:ext cx="1408176" cy="1357884"/>
          </a:xfrm>
          <a:prstGeom prst="triangle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1240000">
            <a:off x="1449324" y="3771900"/>
            <a:ext cx="1860804" cy="402336"/>
          </a:xfrm>
          <a:prstGeom prst="rect">
            <a:avLst/>
          </a:prstGeom>
          <a:solidFill>
            <a:srgbClr val="FFFFFF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850" b="1" i="0" spc="100">
                <a:solidFill>
                  <a:srgbClr val="16211D"/>
                </a:solidFill>
                <a:latin typeface="Space Mono"/>
              </a:rPr>
              <a:t>ADMIT ONE · WHOLE HUMAN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The cut-paper composition: circle, striped arch, triangle + ticket.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0" y="2286000"/>
            <a:ext cx="6400800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8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5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22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9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36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94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51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8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5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228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00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72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944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51692" y="2363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26974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Film sprocket divider between major sections.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512064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C</a:t>
            </a:r>
          </a:p>
        </p:txBody>
      </p:sp>
      <p:sp>
        <p:nvSpPr>
          <p:cNvPr id="35" name="Oval 34"/>
          <p:cNvSpPr/>
          <p:nvPr/>
        </p:nvSpPr>
        <p:spPr>
          <a:xfrm>
            <a:off x="6126479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S</a:t>
            </a:r>
          </a:p>
        </p:txBody>
      </p:sp>
      <p:sp>
        <p:nvSpPr>
          <p:cNvPr id="36" name="Oval 35"/>
          <p:cNvSpPr/>
          <p:nvPr/>
        </p:nvSpPr>
        <p:spPr>
          <a:xfrm>
            <a:off x="7132320" y="3566160"/>
            <a:ext cx="685800" cy="685800"/>
          </a:xfrm>
          <a:prstGeom prst="ellipse">
            <a:avLst/>
          </a:prstGeom>
          <a:solidFill>
            <a:srgbClr val="93D9C2"/>
          </a:solidFill>
          <a:ln w="2540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 i="0">
                <a:solidFill>
                  <a:srgbClr val="16211D"/>
                </a:solidFill>
                <a:latin typeface="Space Mono"/>
              </a:rPr>
              <a:t>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43484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0" i="0">
                <a:solidFill>
                  <a:srgbClr val="56605B"/>
                </a:solidFill>
                <a:latin typeface="Work Sans"/>
              </a:rPr>
              <a:t>Icon roundels: mint circle + ink border. Drop a simple line icon or initial inside.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1 · LOREM IPSUM · DOLOR SIT AMET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65676" y="1289304"/>
            <a:ext cx="7347204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16211D"/>
                </a:solidFill>
                <a:latin typeface="Fraunces"/>
              </a:rPr>
              <a:t>Lorem ipsum dolor sit amet, </a:t>
            </a:r>
            <a:r>
              <a:rPr sz="4400" b="0" i="1">
                <a:solidFill>
                  <a:srgbClr val="17705A"/>
                </a:solidFill>
                <a:latin typeface="Fraunces"/>
              </a:rPr>
              <a:t>consectetur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0256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1284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083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882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3680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4479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5278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6076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6875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7674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8473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9271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0070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869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16680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2466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32655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40642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848629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6617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64604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72591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880578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388566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896553" y="6697980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PART 2 · LOREM IPSUM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2788920" y="649224"/>
            <a:ext cx="8823960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6211D"/>
                </a:solidFill>
                <a:latin typeface="Fraunces"/>
              </a:rPr>
              <a:t>Lorem ipsum dolor sit amet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920240"/>
            <a:ext cx="12191695" cy="4114800"/>
          </a:xfrm>
          <a:prstGeom prst="rect">
            <a:avLst/>
          </a:prstGeom>
          <a:solidFill>
            <a:srgbClr val="93D9C2"/>
          </a:solidFill>
          <a:ln w="31750">
            <a:solidFill>
              <a:srgbClr val="1621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1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2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2377440"/>
            <a:ext cx="3291840" cy="3017520"/>
          </a:xfrm>
          <a:prstGeom prst="roundRect">
            <a:avLst>
              <a:gd name="adj" fmla="val 9000"/>
            </a:avLst>
          </a:prstGeom>
          <a:solidFill>
            <a:srgbClr val="FBFAF6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/>
          <a:lstStyle/>
          <a:p>
            <a:pPr algn="l"/>
            <a:r>
              <a:rPr sz="1700" b="1" i="0">
                <a:solidFill>
                  <a:srgbClr val="16211D"/>
                </a:solidFill>
                <a:latin typeface="Fraunces"/>
              </a:rPr>
              <a:t>Lorem 3</a:t>
            </a:r>
          </a:p>
          <a:p>
            <a:pPr algn="l"/>
            <a:r>
              <a:rPr sz="115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 spc="160">
                <a:solidFill>
                  <a:srgbClr val="17705A"/>
                </a:solidFill>
                <a:latin typeface="Space Mono"/>
              </a:rPr>
              <a:t>LOREM IPSUM · IN THEIR 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3483864" y="649224"/>
            <a:ext cx="8129016" cy="25400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20240" y="1737360"/>
            <a:ext cx="8321040" cy="3017520"/>
          </a:xfrm>
          <a:prstGeom prst="roundRect">
            <a:avLst>
              <a:gd name="adj" fmla="val 10000"/>
            </a:avLst>
          </a:prstGeom>
          <a:solidFill>
            <a:srgbClr val="93D9C2"/>
          </a:solidFill>
          <a:ln w="3175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0" i="1">
                <a:solidFill>
                  <a:srgbClr val="16211D"/>
                </a:solidFill>
                <a:latin typeface="Fraunces"/>
              </a:rPr>
              <a:t>“Lorem ipsum dolor sit amet, consectetur adipiscing elit. Integer posuere erat a ante venenatis dapibus posuere velit aliquet. Cras mattis consectetur purus sit amet fermentum.”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502920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050" b="1" i="0" spc="140">
                <a:solidFill>
                  <a:srgbClr val="17705A"/>
                </a:solidFill>
                <a:latin typeface="Space Mono"/>
              </a:rPr>
              <a:t>LOREM IPSUM · DOLOR SIT AMET, CONSECTETUR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162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1284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083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2882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3680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4479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78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6076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76875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674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8473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9271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070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869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16680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2466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32655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40642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48629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56617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864604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72591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880578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388566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896553" y="77724"/>
            <a:ext cx="82296" cy="82296"/>
          </a:xfrm>
          <a:prstGeom prst="ellipse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100" b="1" i="0" spc="160">
                <a:solidFill>
                  <a:srgbClr val="17705A"/>
                </a:solidFill>
                <a:latin typeface="Space Mono"/>
              </a:rPr>
              <a:t>— LOREM IPSUM · DOLOR SIT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4800" b="1" i="0">
                <a:solidFill>
                  <a:srgbClr val="16211D"/>
                </a:solidFill>
                <a:latin typeface="Fraunces"/>
              </a:rPr>
              <a:t>Lorem ipsum </a:t>
            </a:r>
            <a:r>
              <a:rPr sz="4800" b="0" i="1">
                <a:solidFill>
                  <a:srgbClr val="17705A"/>
                </a:solidFill>
                <a:latin typeface="Fraunces"/>
              </a:rPr>
              <a:t>dolor?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3657600"/>
            <a:ext cx="6858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56605B"/>
                </a:solidFill>
                <a:latin typeface="Work Sans"/>
              </a:rPr>
              <a:t>Lorem ipsum dolor sit amet, consectetur adipiscing elit. Integer posuere erat a ante venenatis dapibus posuere velit aliquet.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92040" y="4754880"/>
            <a:ext cx="2468880" cy="475488"/>
          </a:xfrm>
          <a:prstGeom prst="roundRect">
            <a:avLst>
              <a:gd name="adj" fmla="val 50000"/>
            </a:avLst>
          </a:prstGeom>
          <a:solidFill>
            <a:srgbClr val="93D9C2"/>
          </a:solidFill>
          <a:ln w="25400">
            <a:solidFill>
              <a:srgbClr val="16211D"/>
            </a:solidFill>
          </a:ln>
          <a:effectLst>
            <a:outerShdw blurRad="0" dist="63500" dir="2700000" rotWithShape="0">
              <a:srgbClr val="16211D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 i="0" spc="100">
                <a:solidFill>
                  <a:srgbClr val="16211D"/>
                </a:solidFill>
                <a:latin typeface="Space Mono"/>
              </a:rPr>
              <a:t>LOREM IPSUM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1" i="0" spc="140">
                <a:solidFill>
                  <a:srgbClr val="56605B"/>
                </a:solidFill>
                <a:latin typeface="Space Mono"/>
              </a:rPr>
              <a:t>HUMAN EDGE LEADERSHIP · LOREM IPSUM DOLOR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