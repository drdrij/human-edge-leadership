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7" r:id="rId2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640080"/>
            <a:ext cx="548640" cy="5486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BRAND TEMPLATE · FOR THE AI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7863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5400" b="1" i="0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54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5400" b="1" i="0">
                <a:solidFill>
                  <a:srgbClr val="16211D"/>
                </a:solidFill>
                <a:latin typeface="Fraunces"/>
              </a:rPr>
              <a:t> consectetur.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394960"/>
            <a:ext cx="237744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 AMET</a:t>
            </a:r>
          </a:p>
        </p:txBody>
      </p:sp>
      <p:sp>
        <p:nvSpPr>
          <p:cNvPr id="10" name="Oval 9"/>
          <p:cNvSpPr/>
          <p:nvPr/>
        </p:nvSpPr>
        <p:spPr>
          <a:xfrm>
            <a:off x="10309860" y="1737360"/>
            <a:ext cx="2171700" cy="2171700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052560" y="2766060"/>
            <a:ext cx="1828800" cy="2400300"/>
          </a:xfrm>
          <a:prstGeom prst="round2SameRect">
            <a:avLst>
              <a:gd name="adj1" fmla="val 100000"/>
              <a:gd name="adj2" fmla="val 0"/>
            </a:avLst>
          </a:prstGeom>
          <a:effectLst/>
          <a:pattFill prst="ltHorz">
            <a:fgClr>
              <a:srgbClr val="16211D"/>
            </a:fgClr>
            <a:bgClr>
              <a:srgbClr val="FFFFFF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0995660" y="3623310"/>
            <a:ext cx="1600200" cy="1543050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240000">
            <a:off x="9452610" y="3737610"/>
            <a:ext cx="211455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01 · COLOUR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2052" y="649224"/>
            <a:ext cx="87279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Colours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Ink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#16211D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Text, borders, dark bands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Paper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#FBFAF6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Page + slide background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Mint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#93D9C2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Accent fills, pills,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7705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Mint deep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#17705A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Labels, emphasis,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56605B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Grey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#56605B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Secondary body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6211D"/>
                </a:solidFill>
                <a:latin typeface="Work Sans"/>
              </a:rPr>
              <a:t>Usage: </a:t>
            </a:r>
            <a:r>
              <a:rPr sz="1200" b="0" i="0">
                <a:solidFill>
                  <a:srgbClr val="56605B"/>
                </a:solidFill>
                <a:latin typeface="Work Sans"/>
              </a:rPr>
              <a:t>paper backgrounds, ink type, mint in small confident doses. Join phrases with + instead of dashes. Lorem ipsum dolor sit amet, consectetur adipiscing elit.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02 · TYPOGRAPHY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354580" y="649224"/>
            <a:ext cx="907541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Type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FRAUNCES · HEADLINES + DISPLAY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34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 i="1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22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2200" b="0" i="1">
                <a:solidFill>
                  <a:srgbClr val="16211D"/>
                </a:solidFill>
                <a:latin typeface="Fraunces"/>
              </a:rPr>
              <a:t> — italic accents in mint deep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WORK SANS · BODY COPY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 Cras mattis consectetur purus sit amet fermentum.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SPACE MONO · LABELS, PILLS + NUMBERS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00" b="1" i="0" spc="160">
                <a:solidFill>
                  <a:srgbClr val="16211D"/>
                </a:solidFill>
                <a:latin typeface="Space Mono"/>
              </a:rPr>
              <a:t>LOREM IPSUM · DOLOR SIT · 20+ AMET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56616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Fonts to install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All free on Google Fonts: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fonts.google.com/specimen/Fraunces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fonts.google.com/specimen/Work+Sans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fonts.google.com/specimen/Space+Mono</a:t>
            </a:r>
          </a:p>
          <a:p>
            <a:pPr algn="l"/>
            <a:r>
              <a:rPr sz="1050" b="0" i="0">
                <a:solidFill>
                  <a:srgbClr val="56605B"/>
                </a:solidFill>
                <a:latin typeface="Work Sans"/>
              </a:rPr>
              <a:t>Install before editing so text renders in brand type.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03 · LOGO + 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8315" y="649224"/>
            <a:ext cx="890168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Logo + marks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H roundel</a:t>
            </a:r>
          </a:p>
        </p:txBody>
      </p:sp>
      <p:sp>
        <p:nvSpPr>
          <p:cNvPr id="8" name="Oval 7"/>
          <p:cNvSpPr/>
          <p:nvPr/>
        </p:nvSpPr>
        <p:spPr>
          <a:xfrm>
            <a:off x="3291840" y="2240280"/>
            <a:ext cx="475488" cy="475488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91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Lockup: roundel + wordmark in Space Mono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PROFOUNDLY HUMAN · LOREM IPSUM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Kicker pill: outlined, Space Mono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40">
                <a:solidFill>
                  <a:srgbClr val="93D9C2"/>
                </a:solidFill>
                <a:latin typeface="Space Mono"/>
              </a:rPr>
              <a:t>ON DARK: </a:t>
            </a:r>
            <a:r>
              <a:rPr sz="1300" b="0" i="0">
                <a:solidFill>
                  <a:srgbClr val="FBFAF6"/>
                </a:solidFill>
                <a:latin typeface="Work Sans"/>
              </a:rPr>
              <a:t>  mint labels + paper text. Lorem ipsum dolor sit amet.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04 · BUTTONS +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5788" y="649224"/>
            <a:ext cx="8554211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Buttons, pills +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PRIMARY · MINT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16211D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FBFAF6"/>
                </a:solidFill>
                <a:latin typeface="Space Mono"/>
              </a:rPr>
              <a:t>STANDARD · 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GHOST ·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Primary carries the hard offset shadow. One primary per slide; lorem ipsum dolor sit amet.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SECTION LABEL · LOREM IPSUM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657600"/>
            <a:ext cx="75895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act-label: mono caps in mint deep + 2pt ink rule to the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634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2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6634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SKILL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tags + chips for topics and categories. Join with + (never dashes): Lorem + Ipsum + Dolor.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05 ·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39" y="649224"/>
            <a:ext cx="950975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Dolor sit amet</a:t>
            </a:r>
          </a:p>
          <a:p>
            <a:pPr algn="l"/>
            <a:r>
              <a:rPr sz="1100" b="0" i="1">
                <a:solidFill>
                  <a:srgbClr val="17705A"/>
                </a:solidFill>
                <a:latin typeface="Fraunces"/>
              </a:rPr>
              <a:t>the lorem ipsum</a:t>
            </a:r>
          </a:p>
          <a:p>
            <a:pPr algn="l"/>
            <a:r>
              <a:rPr sz="1100" b="0" i="0">
                <a:solidFill>
                  <a:srgbClr val="16211D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21945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Ipsum dolor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purus.</a:t>
            </a:r>
          </a:p>
        </p:txBody>
      </p:sp>
      <p:sp>
        <p:nvSpPr>
          <p:cNvPr id="11" name="Rounded Rectangle 10"/>
          <p:cNvSpPr/>
          <p:nvPr/>
        </p:nvSpPr>
        <p:spPr>
          <a:xfrm rot="21540000">
            <a:off x="9372600" y="192024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20+ lorem ipsum dolor sit</a:t>
            </a:r>
          </a:p>
        </p:txBody>
      </p:sp>
      <p:sp>
        <p:nvSpPr>
          <p:cNvPr id="12" name="Rounded Rectangle 11"/>
          <p:cNvSpPr/>
          <p:nvPr/>
        </p:nvSpPr>
        <p:spPr>
          <a:xfrm rot="60000">
            <a:off x="9464040" y="356616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Lorem ipsum + dolor amet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White card · mint cluster card · tag card · ticket cards (tilted 1–2°). All carry the 2.5pt ink border + hard shadow.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06 · BRAND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67712" y="649224"/>
            <a:ext cx="916228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Cut-paper art + dividers</a:t>
            </a:r>
          </a:p>
        </p:txBody>
      </p:sp>
      <p:sp>
        <p:nvSpPr>
          <p:cNvPr id="6" name="Oval 5"/>
          <p:cNvSpPr/>
          <p:nvPr/>
        </p:nvSpPr>
        <p:spPr>
          <a:xfrm>
            <a:off x="2203704" y="2011680"/>
            <a:ext cx="1911095" cy="1911095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1097280" y="2916936"/>
            <a:ext cx="1609344" cy="2112264"/>
          </a:xfrm>
          <a:prstGeom prst="round2SameRect">
            <a:avLst>
              <a:gd name="adj1" fmla="val 100000"/>
              <a:gd name="adj2" fmla="val 0"/>
            </a:avLst>
          </a:prstGeom>
          <a:effectLst/>
          <a:pattFill prst="ltHorz">
            <a:fgClr>
              <a:srgbClr val="16211D"/>
            </a:fgClr>
            <a:bgClr>
              <a:srgbClr val="FFFFFF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07208" y="3671316"/>
            <a:ext cx="1408176" cy="1357884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240000">
            <a:off x="1449324" y="3771900"/>
            <a:ext cx="1860804" cy="402336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cut-paper composition: circle, striped arch, triangle + ticket.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286000"/>
            <a:ext cx="6400800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8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22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9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6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94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51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8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5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2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7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1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697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Film sprocket divider between major sections.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512064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6126479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S</a:t>
            </a:r>
          </a:p>
        </p:txBody>
      </p:sp>
      <p:sp>
        <p:nvSpPr>
          <p:cNvPr id="36" name="Oval 35"/>
          <p:cNvSpPr/>
          <p:nvPr/>
        </p:nvSpPr>
        <p:spPr>
          <a:xfrm>
            <a:off x="713232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43484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Icon roundels: mint circle + ink border. Drop a simple line icon or initial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1 · LOREM IPSUM · DOLOR SIT AMET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6" y="1289304"/>
            <a:ext cx="734720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16211D"/>
                </a:solidFill>
                <a:latin typeface="Fraunces"/>
              </a:rPr>
              <a:t>Lorem ipsum dolor sit amet, </a:t>
            </a:r>
            <a:r>
              <a:rPr sz="4400" b="0" i="1">
                <a:solidFill>
                  <a:srgbClr val="17705A"/>
                </a:solidFill>
                <a:latin typeface="Fraunces"/>
              </a:rPr>
              <a:t>consectetur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2 · LOREM IPSUM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8920" y="649224"/>
            <a:ext cx="882396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920240"/>
            <a:ext cx="12191695" cy="4114800"/>
          </a:xfrm>
          <a:prstGeom prst="rect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1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2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3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LOREM IPSUM · 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83864" y="649224"/>
            <a:ext cx="812901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1737360"/>
            <a:ext cx="8321040" cy="30175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 Cras mattis consectetur purus sit amet fermentum.”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0292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LOREM IPSUM · DOLOR SIT AMET, CONSECTETUR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284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083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2882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680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4479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78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076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6875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674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8473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9271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070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69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668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2466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265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064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4862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5661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6460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259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8057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856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89655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 i="0" spc="160">
                <a:solidFill>
                  <a:srgbClr val="17705A"/>
                </a:solidFill>
                <a:latin typeface="Space Mono"/>
              </a:rPr>
              <a:t>— LOREM IPSUM · DOLOR SIT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4800" b="1" i="0">
                <a:solidFill>
                  <a:srgbClr val="16211D"/>
                </a:solidFill>
                <a:latin typeface="Fraunces"/>
              </a:rPr>
              <a:t>Lorem ipsum </a:t>
            </a:r>
            <a:r>
              <a:rPr sz="4800" b="0" i="1">
                <a:solidFill>
                  <a:srgbClr val="17705A"/>
                </a:solidFill>
                <a:latin typeface="Fraunces"/>
              </a:rPr>
              <a:t>dolor?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4754880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1" i="0" spc="140">
                <a:solidFill>
                  <a:srgbClr val="56605B"/>
                </a:solidFill>
                <a:latin typeface="Space Mono"/>
              </a:rPr>
              <a:t>HUMAN EDGE LEADERSHIP · LOREM IPSUM DOLOR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07 · LAYOUT: HERO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9524" y="557784"/>
            <a:ext cx="856335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LOREM IPSUM · DOLOR SIT AMET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4000" b="1" i="0">
                <a:solidFill>
                  <a:srgbClr val="16211D"/>
                </a:solidFill>
                <a:latin typeface="Fraunces"/>
              </a:rPr>
              <a:t>Lorem ipsum dolor. </a:t>
            </a:r>
            <a:r>
              <a:rPr sz="40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4000" b="1" i="0">
                <a:solidFill>
                  <a:srgbClr val="16211D"/>
                </a:solidFill>
                <a:latin typeface="Fraunces"/>
              </a:rPr>
              <a:t> consectetur elit.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89204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56605B"/>
                </a:solidFill>
                <a:latin typeface="Space Mono"/>
              </a:rPr>
              <a:t>20+ LOREM + IPSUM      DOLOR + SIT      AMET + CONSECTETUR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554480"/>
            <a:ext cx="4023360" cy="3017520"/>
          </a:xfrm>
          <a:prstGeom prst="roundRect">
            <a:avLst>
              <a:gd name="adj" fmla="val 8000"/>
            </a:avLst>
          </a:prstGeom>
          <a:solidFill>
            <a:srgbClr val="10201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98280" y="2743199"/>
            <a:ext cx="640080" cy="64008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9309506" y="2922422"/>
            <a:ext cx="256031" cy="281635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4005072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SHOT 1 · LOREM IPSUM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709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Video card: dark frame + play roundel + caption chip.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08 · MEDIA CARDS + PLACEHOLDERS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4468" y="557784"/>
            <a:ext cx="786841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Stills, video + image placeholders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037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SAMPLE REEL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DOLOR SIT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651760"/>
            <a:ext cx="548640" cy="54864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5987491" y="2805379"/>
            <a:ext cx="219456" cy="241401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0728" y="1892807"/>
            <a:ext cx="3255264" cy="2240280"/>
          </a:xfrm>
          <a:prstGeom prst="rect">
            <a:avLst/>
          </a:prstGeom>
          <a:effectLst/>
          <a:pattFill prst="ltUpDiag">
            <a:fgClr>
              <a:srgbClr val="93D9C2"/>
            </a:fgClr>
            <a:bgClr>
              <a:srgbClr val="FBFAF6"/>
            </a:bgClr>
          </a:pattFill>
          <a:ln w="190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280263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COMING SOON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003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COMING SOON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3383280" cy="118872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544068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0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2064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diagonal stripes mark any image slot still waiting on content. Caption bar: Space Mono caps, label left + detail right in grey.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09 · LAYOUT: CHALLENGE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396996" y="557784"/>
            <a:ext cx="8215883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6211D"/>
                </a:solidFill>
                <a:latin typeface="Fraunces"/>
              </a:rPr>
              <a:t>Lorem ipsum dolor, the </a:t>
            </a:r>
            <a:r>
              <a:rPr sz="2800" b="1" i="0">
                <a:solidFill>
                  <a:srgbClr val="17705A"/>
                </a:solidFill>
                <a:latin typeface="Fraunces"/>
              </a:rPr>
              <a:t>critical sit amet persist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NICE LOREM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862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IPSUM +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SIT + AMET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1">
                <a:solidFill>
                  <a:srgbClr val="17705A"/>
                </a:solidFill>
                <a:latin typeface="Fraunces"/>
              </a:rPr>
              <a:t>Lorem ipsum dolor sit amet, consectetur adipiscing elit venenatis dapibus.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10 · LAYOUT: CLUSTER TILES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Four lorem to ipsum with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Lorem ipsum experiences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flagship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02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one-on-one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03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Amet consectetur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tailoring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04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Adipiscing elit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fun stuff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11 · ROWS, ACCORDIONS + CHIPS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0732" y="557784"/>
            <a:ext cx="80421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Content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dolor you can't skip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97510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00">
                <a:solidFill>
                  <a:srgbClr val="17705A"/>
                </a:solidFill>
                <a:latin typeface="Space Mono"/>
              </a:rPr>
              <a:t>+ MORE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6984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>
                <a:solidFill>
                  <a:srgbClr val="16211D"/>
                </a:solidFill>
                <a:latin typeface="Fraunces"/>
              </a:rPr>
              <a:t>Lorem coaching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DISC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HOGAN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Accordion row (title + '+ MORE') and detail row (label left, copy right, chips).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698480" cy="1097280"/>
          </a:xfrm>
          <a:prstGeom prst="roundRect">
            <a:avLst>
              <a:gd name="adj" fmla="val 12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17705A"/>
                </a:solidFill>
                <a:latin typeface="Space Mono"/>
              </a:rPr>
              <a:t>TOPIC CHIPS WALL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2868" y="5623560"/>
            <a:ext cx="98298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39" y="5623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AMET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4979" y="5623560"/>
            <a:ext cx="1069848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ADIPISCING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89419" y="56235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ELIT INTEGER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7596" y="5623560"/>
            <a:ext cx="80924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POSUERE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6211D"/>
                </a:solidFill>
                <a:latin typeface="Space Mono"/>
              </a:rPr>
              <a:t>12 · TESTIMONIAL CAROUSEL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In their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79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783080"/>
            <a:ext cx="329184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057400"/>
            <a:ext cx="24688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←</a:t>
            </a:r>
          </a:p>
        </p:txBody>
      </p:sp>
      <p:sp>
        <p:nvSpPr>
          <p:cNvPr id="16" name="Oval 15"/>
          <p:cNvSpPr/>
          <p:nvPr/>
        </p:nvSpPr>
        <p:spPr>
          <a:xfrm>
            <a:off x="1120140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Cards sit on the mint band; peeking third card implies swipe. Arrows bottom right.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93D9C2"/>
                </a:solidFill>
                <a:latin typeface="Space Mono"/>
              </a:rPr>
              <a:t>13 · DARK BAND +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649224"/>
            <a:ext cx="7772400" cy="254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FBFAF6"/>
                </a:solidFill>
                <a:latin typeface="Fraunces"/>
              </a:rPr>
              <a:t>A lorem ipsum traditional dolor can't offer</a:t>
            </a:r>
          </a:p>
        </p:txBody>
      </p:sp>
      <p:sp>
        <p:nvSpPr>
          <p:cNvPr id="6" name="Rounded Rectangle 5"/>
          <p:cNvSpPr/>
          <p:nvPr/>
        </p:nvSpPr>
        <p:spPr>
          <a:xfrm rot="21540000">
            <a:off x="73152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20+ lorem in ipsum, dolor + sit</a:t>
            </a:r>
          </a:p>
        </p:txBody>
      </p:sp>
      <p:sp>
        <p:nvSpPr>
          <p:cNvPr id="7" name="Rounded Rectangle 6"/>
          <p:cNvSpPr/>
          <p:nvPr/>
        </p:nvSpPr>
        <p:spPr>
          <a:xfrm rot="60000">
            <a:off x="4480559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BACKGROUND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Senior lorem ipsum (incl. dolor + sit)</a:t>
            </a:r>
          </a:p>
        </p:txBody>
      </p:sp>
      <p:sp>
        <p:nvSpPr>
          <p:cNvPr id="8" name="Rounded Rectangle 7"/>
          <p:cNvSpPr/>
          <p:nvPr/>
        </p:nvSpPr>
        <p:spPr>
          <a:xfrm rot="21540000">
            <a:off x="822960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TRAINING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degree + professionally ipsum</a:t>
            </a:r>
          </a:p>
        </p:txBody>
      </p:sp>
      <p:sp>
        <p:nvSpPr>
          <p:cNvPr id="9" name="Rounded Rectangle 8"/>
          <p:cNvSpPr/>
          <p:nvPr/>
        </p:nvSpPr>
        <p:spPr>
          <a:xfrm rot="60000">
            <a:off x="73152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Deep lorem and creative ipsum</a:t>
            </a:r>
          </a:p>
        </p:txBody>
      </p:sp>
      <p:sp>
        <p:nvSpPr>
          <p:cNvPr id="10" name="Rounded Rectangle 9"/>
          <p:cNvSpPr/>
          <p:nvPr/>
        </p:nvSpPr>
        <p:spPr>
          <a:xfrm rot="21540000">
            <a:off x="4480559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PRODUCTION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partnership with Ipsum Dolor</a:t>
            </a:r>
          </a:p>
        </p:txBody>
      </p:sp>
      <p:sp>
        <p:nvSpPr>
          <p:cNvPr id="11" name="Rounded Rectangle 10"/>
          <p:cNvSpPr/>
          <p:nvPr/>
        </p:nvSpPr>
        <p:spPr>
          <a:xfrm rot="60000">
            <a:off x="822960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PARTNERSHIPS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High-calibre lorem + ipsum 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Ink band: paper tickets tilted 1°, mint-deep mono labels. Mint for emphasis text on dark.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14 · BIO + PARTNER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310896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3464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630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FOUNDER + DIRECTOR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24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consectetur purus.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This is why lorem ipsum: dolor sit amet, consectetur.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56616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50" b="1" i="0">
                <a:solidFill>
                  <a:srgbClr val="16211D"/>
                </a:solidFill>
                <a:latin typeface="Space Mono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17830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100">
                <a:solidFill>
                  <a:srgbClr val="17705A"/>
                </a:solidFill>
                <a:latin typeface="Space Mono"/>
              </a:rPr>
              <a:t>LOREM + IPSUM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Consulting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80"/>
            <a:ext cx="10789920" cy="11887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 i="1">
                <a:solidFill>
                  <a:srgbClr val="16211D"/>
                </a:solidFill>
                <a:latin typeface="Fraunces"/>
              </a:rPr>
              <a:t>“Crafted by a lorem who blends ipsum, dolor, sit amet + real-world consectetur … creating a unique elit.”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15 · FORM + CONTACT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0350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Book a lorem ipsum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Name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title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Email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60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of interest (optional):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Lorem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Dolor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1206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SUBMIT 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i="0">
                <a:solidFill>
                  <a:srgbClr val="16211D"/>
                </a:solidFill>
                <a:latin typeface="Fraunces"/>
              </a:rPr>
              <a:t>Lorem Ipsum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214884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+61 400 000 000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269748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76148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29" name="Oval 28"/>
          <p:cNvSpPr/>
          <p:nvPr/>
        </p:nvSpPr>
        <p:spPr>
          <a:xfrm>
            <a:off x="7635240" y="324612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31012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Head office located in Lorem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8862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Prefer lorem? Ipsum dolor sit amet + consectetur.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16 · FOOTER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41448" y="557784"/>
            <a:ext cx="917143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402336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 i="0" spc="140">
                <a:solidFill>
                  <a:srgbClr val="93D9C2"/>
                </a:solidFill>
                <a:latin typeface="Space Mono"/>
              </a:rPr>
              <a:t>HUMAN EDGE LEADERSHIP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Lorem ipsum dolor for the sit era. Real amet + no consectetur. Elit + deep integer.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20240"/>
            <a:ext cx="2743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Explore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Amet + consectetur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1089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Contact us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+61 400 000 000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12700"/>
          </a:xfrm>
          <a:prstGeom prst="rect">
            <a:avLst/>
          </a:prstGeom>
          <a:solidFill>
            <a:srgbClr val="4A5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© Lorem Ipsum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Made in Lorem.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spc="160">
                <a:solidFill>
                  <a:srgbClr val="17705A"/>
                </a:solidFill>
                <a:latin typeface="Space Mono"/>
              </a:rPr>
              <a:t>06B · THE ROBOTS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11D"/>
                </a:solidFill>
                <a:latin typeface="Fraunces"/>
              </a:rPr>
              <a:t>Robot friends: six scenes</a:t>
            </a:r>
          </a:p>
        </p:txBody>
      </p:sp>
      <p:pic>
        <p:nvPicPr>
          <p:cNvPr id="5" name="Picture 4" descr="bo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2377440" cy="2496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00 · Whole human</a:t>
            </a:r>
          </a:p>
        </p:txBody>
      </p:sp>
      <p:pic>
        <p:nvPicPr>
          <p:cNvPr id="7" name="Picture 6" descr="b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00200"/>
            <a:ext cx="2377440" cy="2496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01 · Rolling</a:t>
            </a:r>
          </a:p>
        </p:txBody>
      </p:sp>
      <p:pic>
        <p:nvPicPr>
          <p:cNvPr id="9" name="Picture 8" descr="bo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600200"/>
            <a:ext cx="2377440" cy="2496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02 · Real conversations</a:t>
            </a:r>
          </a:p>
        </p:txBody>
      </p:sp>
      <p:pic>
        <p:nvPicPr>
          <p:cNvPr id="11" name="Picture 10" descr="bot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14800"/>
            <a:ext cx="2377440" cy="2496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03 · Storytelling</a:t>
            </a:r>
          </a:p>
        </p:txBody>
      </p:sp>
      <p:pic>
        <p:nvPicPr>
          <p:cNvPr id="13" name="Picture 12" descr="bot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114800"/>
            <a:ext cx="2377440" cy="2496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04 · The ensemble</a:t>
            </a:r>
          </a:p>
        </p:txBody>
      </p:sp>
      <p:pic>
        <p:nvPicPr>
          <p:cNvPr id="15" name="Picture 14" descr="bot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4114800"/>
            <a:ext cx="2377440" cy="2496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05 · Zumba o'clock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