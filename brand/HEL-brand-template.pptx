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77" r:id="rId28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31520" y="640080"/>
            <a:ext cx="548640" cy="548640"/>
          </a:xfrm>
          <a:prstGeom prst="ellipse">
            <a:avLst/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700" b="1" i="0">
                <a:solidFill>
                  <a:srgbClr val="16211D"/>
                </a:solidFill>
                <a:latin typeface="Space Mono"/>
              </a:rPr>
              <a:t>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713232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 i="0" spc="150">
                <a:solidFill>
                  <a:srgbClr val="16211D"/>
                </a:solidFill>
                <a:latin typeface="Space Mono"/>
              </a:rPr>
              <a:t>HUMAN EDGE LEADERSHIP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00" b="1" i="0" spc="140">
                <a:solidFill>
                  <a:srgbClr val="16211D"/>
                </a:solidFill>
                <a:latin typeface="Space Mono"/>
              </a:rPr>
              <a:t>BRAND TEMPLATE · FOR THE AI 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78638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5400" b="1" i="0">
                <a:solidFill>
                  <a:srgbClr val="16211D"/>
                </a:solidFill>
                <a:latin typeface="Fraunces"/>
              </a:rPr>
              <a:t>Lorem ipsum dolor </a:t>
            </a:r>
            <a:r>
              <a:rPr sz="5400" b="0" i="1">
                <a:solidFill>
                  <a:srgbClr val="17705A"/>
                </a:solidFill>
                <a:latin typeface="Fraunces"/>
              </a:rPr>
              <a:t>sit amet</a:t>
            </a:r>
            <a:r>
              <a:rPr sz="5400" b="1" i="0">
                <a:solidFill>
                  <a:srgbClr val="16211D"/>
                </a:solidFill>
                <a:latin typeface="Fraunces"/>
              </a:rPr>
              <a:t> consectetur.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343400"/>
            <a:ext cx="6583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 ante venenatis dapibus posuere velit aliquet.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394960"/>
            <a:ext cx="2377440" cy="475488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2540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 spc="100">
                <a:solidFill>
                  <a:srgbClr val="16211D"/>
                </a:solidFill>
                <a:latin typeface="Space Mono"/>
              </a:rPr>
              <a:t>LOREM IPSUM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5394960"/>
            <a:ext cx="2377440" cy="475488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 spc="100">
                <a:solidFill>
                  <a:srgbClr val="16211D"/>
                </a:solidFill>
                <a:latin typeface="Space Mono"/>
              </a:rPr>
              <a:t>DOLOR SIT AMET</a:t>
            </a:r>
          </a:p>
        </p:txBody>
      </p:sp>
      <p:sp>
        <p:nvSpPr>
          <p:cNvPr id="10" name="Oval 9"/>
          <p:cNvSpPr/>
          <p:nvPr/>
        </p:nvSpPr>
        <p:spPr>
          <a:xfrm>
            <a:off x="10309860" y="1737360"/>
            <a:ext cx="2171700" cy="2171700"/>
          </a:xfrm>
          <a:prstGeom prst="ellipse">
            <a:avLst/>
          </a:prstGeom>
          <a:solidFill>
            <a:srgbClr val="93D9C2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 Same Side Corner Rectangle 10"/>
          <p:cNvSpPr/>
          <p:nvPr/>
        </p:nvSpPr>
        <p:spPr>
          <a:xfrm>
            <a:off x="9052560" y="2766060"/>
            <a:ext cx="1828800" cy="2400300"/>
          </a:xfrm>
          <a:prstGeom prst="round2SameRect">
            <a:avLst>
              <a:gd name="adj1" fmla="val 100000"/>
              <a:gd name="adj2" fmla="val 0"/>
            </a:avLst>
          </a:prstGeom>
          <a:blipFill>
            <a:blip r:embed="rId2"/>
            <a:tile tx="0" ty="0" sx="100000" sy="100000" flip="none" algn="tl"/>
          </a:blipFill>
          <a:effectLst/>
          <a:ln w="31750">
            <a:solidFill>
              <a:srgbClr val="1621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sosceles Triangle 18"/>
          <p:cNvSpPr/>
          <p:nvPr/>
        </p:nvSpPr>
        <p:spPr>
          <a:xfrm>
            <a:off x="10995660" y="3623310"/>
            <a:ext cx="1600200" cy="1543050"/>
          </a:xfrm>
          <a:prstGeom prst="triangle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1240000">
            <a:off x="9452610" y="3737610"/>
            <a:ext cx="2114550" cy="457200"/>
          </a:xfrm>
          <a:prstGeom prst="rect">
            <a:avLst/>
          </a:prstGeom>
          <a:solidFill>
            <a:srgbClr val="FFFFFF"/>
          </a:solidFill>
          <a:ln w="2540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850" b="1" i="0" spc="100">
                <a:solidFill>
                  <a:srgbClr val="16211D"/>
                </a:solidFill>
                <a:latin typeface="Space Mono"/>
              </a:rPr>
              <a:t>ADMIT ONE · WHOLE HUMAN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12845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0832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228820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736807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244794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752782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260769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768756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276744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784731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292718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800705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308693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816680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24667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832655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340642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848629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356617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864604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0372591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880578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1388566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896553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01 · COLOUR PALETTE</a:t>
            </a:r>
          </a:p>
        </p:txBody>
      </p:sp>
      <p:sp>
        <p:nvSpPr>
          <p:cNvPr id="4" name="Rectangle 3"/>
          <p:cNvSpPr/>
          <p:nvPr/>
        </p:nvSpPr>
        <p:spPr>
          <a:xfrm>
            <a:off x="2702052" y="649224"/>
            <a:ext cx="8727948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600" b="1" i="0">
                <a:solidFill>
                  <a:srgbClr val="16211D"/>
                </a:solidFill>
                <a:latin typeface="Fraunces"/>
              </a:rPr>
              <a:t>Colours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011680" cy="2377440"/>
          </a:xfrm>
          <a:prstGeom prst="roundRect">
            <a:avLst>
              <a:gd name="adj" fmla="val 9000"/>
            </a:avLst>
          </a:prstGeom>
          <a:solidFill>
            <a:srgbClr val="16211D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700" b="1" i="0">
                <a:solidFill>
                  <a:srgbClr val="FBFAF6"/>
                </a:solidFill>
                <a:latin typeface="Fraunces"/>
              </a:rPr>
              <a:t>Ink</a:t>
            </a:r>
          </a:p>
          <a:p>
            <a:pPr algn="ctr"/>
            <a:r>
              <a:rPr sz="1100" b="1" i="0">
                <a:solidFill>
                  <a:srgbClr val="FBFAF6"/>
                </a:solidFill>
                <a:latin typeface="Space Mono"/>
              </a:rPr>
              <a:t>#16211D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389120"/>
            <a:ext cx="2011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56605B"/>
                </a:solidFill>
                <a:latin typeface="Work Sans"/>
              </a:rPr>
              <a:t>Text, borders, dark bands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1828800"/>
            <a:ext cx="2011680" cy="2377440"/>
          </a:xfrm>
          <a:prstGeom prst="roundRect">
            <a:avLst>
              <a:gd name="adj" fmla="val 9000"/>
            </a:avLst>
          </a:prstGeom>
          <a:solidFill>
            <a:srgbClr val="FBFAF6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700" b="1" i="0">
                <a:solidFill>
                  <a:srgbClr val="16211D"/>
                </a:solidFill>
                <a:latin typeface="Fraunces"/>
              </a:rPr>
              <a:t>Paper</a:t>
            </a:r>
          </a:p>
          <a:p>
            <a:pPr algn="ctr"/>
            <a:r>
              <a:rPr sz="1100" b="1" i="0">
                <a:solidFill>
                  <a:srgbClr val="16211D"/>
                </a:solidFill>
                <a:latin typeface="Space Mono"/>
              </a:rPr>
              <a:t>#FBFAF6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4389120"/>
            <a:ext cx="2011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56605B"/>
                </a:solidFill>
                <a:latin typeface="Work Sans"/>
              </a:rPr>
              <a:t>Page + slide background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12080" y="1828800"/>
            <a:ext cx="2011680" cy="2377440"/>
          </a:xfrm>
          <a:prstGeom prst="roundRect">
            <a:avLst>
              <a:gd name="adj" fmla="val 9000"/>
            </a:avLst>
          </a:prstGeom>
          <a:solidFill>
            <a:srgbClr val="93D9C2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700" b="1" i="0">
                <a:solidFill>
                  <a:srgbClr val="16211D"/>
                </a:solidFill>
                <a:latin typeface="Fraunces"/>
              </a:rPr>
              <a:t>Mint</a:t>
            </a:r>
          </a:p>
          <a:p>
            <a:pPr algn="ctr"/>
            <a:r>
              <a:rPr sz="1100" b="1" i="0">
                <a:solidFill>
                  <a:srgbClr val="16211D"/>
                </a:solidFill>
                <a:latin typeface="Space Mono"/>
              </a:rPr>
              <a:t>#93D9C2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4389120"/>
            <a:ext cx="2011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56605B"/>
                </a:solidFill>
                <a:latin typeface="Work Sans"/>
              </a:rPr>
              <a:t>Accent fills, pills, highlights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52360" y="1828800"/>
            <a:ext cx="2011680" cy="2377440"/>
          </a:xfrm>
          <a:prstGeom prst="roundRect">
            <a:avLst>
              <a:gd name="adj" fmla="val 9000"/>
            </a:avLst>
          </a:prstGeom>
          <a:solidFill>
            <a:srgbClr val="17705A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700" b="1" i="0">
                <a:solidFill>
                  <a:srgbClr val="FBFAF6"/>
                </a:solidFill>
                <a:latin typeface="Fraunces"/>
              </a:rPr>
              <a:t>Mint deep</a:t>
            </a:r>
          </a:p>
          <a:p>
            <a:pPr algn="ctr"/>
            <a:r>
              <a:rPr sz="1100" b="1" i="0">
                <a:solidFill>
                  <a:srgbClr val="FBFAF6"/>
                </a:solidFill>
                <a:latin typeface="Space Mono"/>
              </a:rPr>
              <a:t>#17705A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0" y="4389120"/>
            <a:ext cx="2011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56605B"/>
                </a:solidFill>
                <a:latin typeface="Work Sans"/>
              </a:rPr>
              <a:t>Labels, emphasis, links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92640" y="1828800"/>
            <a:ext cx="2011680" cy="2377440"/>
          </a:xfrm>
          <a:prstGeom prst="roundRect">
            <a:avLst>
              <a:gd name="adj" fmla="val 9000"/>
            </a:avLst>
          </a:prstGeom>
          <a:solidFill>
            <a:srgbClr val="56605B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700" b="1" i="0">
                <a:solidFill>
                  <a:srgbClr val="FBFAF6"/>
                </a:solidFill>
                <a:latin typeface="Fraunces"/>
              </a:rPr>
              <a:t>Grey</a:t>
            </a:r>
          </a:p>
          <a:p>
            <a:pPr algn="ctr"/>
            <a:r>
              <a:rPr sz="1100" b="1" i="0">
                <a:solidFill>
                  <a:srgbClr val="FBFAF6"/>
                </a:solidFill>
                <a:latin typeface="Space Mono"/>
              </a:rPr>
              <a:t>#56605B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4389120"/>
            <a:ext cx="2011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56605B"/>
                </a:solidFill>
                <a:latin typeface="Work Sans"/>
              </a:rPr>
              <a:t>Secondary body 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5778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16211D"/>
                </a:solidFill>
                <a:latin typeface="Work Sans"/>
              </a:rPr>
              <a:t>Usage: </a:t>
            </a:r>
            <a:r>
              <a:rPr sz="1200" b="0" i="0">
                <a:solidFill>
                  <a:srgbClr val="56605B"/>
                </a:solidFill>
                <a:latin typeface="Work Sans"/>
              </a:rPr>
              <a:t>paper backgrounds, ink type, mint in small confident doses. Join phrases with + instead of dashes. Lorem ipsum dolor sit amet, consectetur adipiscing elit.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02 · TYPOGRAPHY</a:t>
            </a:r>
          </a:p>
        </p:txBody>
      </p:sp>
      <p:sp>
        <p:nvSpPr>
          <p:cNvPr id="4" name="Rectangle 3"/>
          <p:cNvSpPr/>
          <p:nvPr/>
        </p:nvSpPr>
        <p:spPr>
          <a:xfrm>
            <a:off x="2354580" y="649224"/>
            <a:ext cx="9075419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600" b="1" i="0">
                <a:solidFill>
                  <a:srgbClr val="16211D"/>
                </a:solidFill>
                <a:latin typeface="Fraunces"/>
              </a:rPr>
              <a:t>Type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67665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050" b="1" i="0" spc="140">
                <a:solidFill>
                  <a:srgbClr val="17705A"/>
                </a:solidFill>
                <a:latin typeface="Space Mono"/>
              </a:rPr>
              <a:t>FRAUNCES · HEADLINES + DISPLAY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3400" b="1" i="0">
                <a:solidFill>
                  <a:srgbClr val="16211D"/>
                </a:solidFill>
                <a:latin typeface="Fraunces"/>
              </a:rPr>
              <a:t>Lorem ipsum dolor sit amet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2200" b="0" i="1">
                <a:solidFill>
                  <a:srgbClr val="16211D"/>
                </a:solidFill>
                <a:latin typeface="Fraunces"/>
              </a:rPr>
              <a:t>Lorem ipsum dolor </a:t>
            </a:r>
            <a:r>
              <a:rPr sz="2200" b="0" i="1">
                <a:solidFill>
                  <a:srgbClr val="17705A"/>
                </a:solidFill>
                <a:latin typeface="Fraunces"/>
              </a:rPr>
              <a:t>sit amet</a:t>
            </a:r>
            <a:r>
              <a:rPr sz="2200" b="0" i="1">
                <a:solidFill>
                  <a:srgbClr val="16211D"/>
                </a:solidFill>
                <a:latin typeface="Fraunces"/>
              </a:rPr>
              <a:t> — italic accents in mint deep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600" b="0" i="0">
                <a:solidFill>
                  <a:srgbClr val="16211D"/>
                </a:solidFill>
                <a:latin typeface="Work Sans"/>
              </a:rPr>
              <a:t/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050" b="1" i="0" spc="140">
                <a:solidFill>
                  <a:srgbClr val="17705A"/>
                </a:solidFill>
                <a:latin typeface="Space Mono"/>
              </a:rPr>
              <a:t>WORK SANS · BODY COPY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30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 ante venenatis dapibus posuere velit aliquet. Cras mattis consectetur purus sit amet fermentum.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600" b="0" i="0">
                <a:solidFill>
                  <a:srgbClr val="16211D"/>
                </a:solidFill>
                <a:latin typeface="Work Sans"/>
              </a:rPr>
              <a:t/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050" b="1" i="0" spc="140">
                <a:solidFill>
                  <a:srgbClr val="17705A"/>
                </a:solidFill>
                <a:latin typeface="Space Mono"/>
              </a:rPr>
              <a:t>SPACE MONO · LABELS, PILLS + NUMBERS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200" b="1" i="0" spc="160">
                <a:solidFill>
                  <a:srgbClr val="16211D"/>
                </a:solidFill>
                <a:latin typeface="Space Mono"/>
              </a:rPr>
              <a:t>LOREM IPSUM · DOLOR SIT · 20+ AMET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828800"/>
            <a:ext cx="3566160" cy="39319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600" b="1" i="0">
                <a:solidFill>
                  <a:srgbClr val="16211D"/>
                </a:solidFill>
                <a:latin typeface="Fraunces"/>
              </a:rPr>
              <a:t>Fonts to install</a:t>
            </a:r>
          </a:p>
          <a:p>
            <a:pPr algn="l"/>
            <a:r>
              <a:rPr sz="1100" b="0" i="0">
                <a:solidFill>
                  <a:srgbClr val="56605B"/>
                </a:solidFill>
                <a:latin typeface="Work Sans"/>
              </a:rPr>
              <a:t>All free on Google Fonts:</a:t>
            </a:r>
          </a:p>
          <a:p>
            <a:pPr algn="l"/>
            <a:r>
              <a:rPr sz="950" b="1" i="0">
                <a:solidFill>
                  <a:srgbClr val="17705A"/>
                </a:solidFill>
                <a:latin typeface="Space Mono"/>
              </a:rPr>
              <a:t>fonts.google.com/specimen/Fraunces</a:t>
            </a:r>
          </a:p>
          <a:p>
            <a:pPr algn="l"/>
            <a:r>
              <a:rPr sz="950" b="1" i="0">
                <a:solidFill>
                  <a:srgbClr val="17705A"/>
                </a:solidFill>
                <a:latin typeface="Space Mono"/>
              </a:rPr>
              <a:t>fonts.google.com/specimen/Work+Sans</a:t>
            </a:r>
          </a:p>
          <a:p>
            <a:pPr algn="l"/>
            <a:r>
              <a:rPr sz="950" b="1" i="0">
                <a:solidFill>
                  <a:srgbClr val="17705A"/>
                </a:solidFill>
                <a:latin typeface="Space Mono"/>
              </a:rPr>
              <a:t>fonts.google.com/specimen/Space+Mono</a:t>
            </a:r>
          </a:p>
          <a:p>
            <a:pPr algn="l"/>
            <a:r>
              <a:rPr sz="1050" b="0" i="0">
                <a:solidFill>
                  <a:srgbClr val="56605B"/>
                </a:solidFill>
                <a:latin typeface="Work Sans"/>
              </a:rPr>
              <a:t>Install before editing so text renders in brand type.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03 · LOGO + MARKS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2528315" y="649224"/>
            <a:ext cx="8901684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600" b="1" i="0">
                <a:solidFill>
                  <a:srgbClr val="16211D"/>
                </a:solidFill>
                <a:latin typeface="Fraunces"/>
              </a:rPr>
              <a:t>Logo + marks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103120"/>
            <a:ext cx="1005840" cy="1005840"/>
          </a:xfrm>
          <a:prstGeom prst="ellipse">
            <a:avLst/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3000" b="1" i="0">
                <a:solidFill>
                  <a:srgbClr val="16211D"/>
                </a:solidFill>
                <a:latin typeface="Space Mono"/>
              </a:rPr>
              <a:t>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9184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The H roundel</a:t>
            </a:r>
          </a:p>
        </p:txBody>
      </p:sp>
      <p:sp>
        <p:nvSpPr>
          <p:cNvPr id="8" name="Oval 7"/>
          <p:cNvSpPr/>
          <p:nvPr/>
        </p:nvSpPr>
        <p:spPr>
          <a:xfrm>
            <a:off x="3291840" y="2240280"/>
            <a:ext cx="475488" cy="475488"/>
          </a:xfrm>
          <a:prstGeom prst="ellipse">
            <a:avLst/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 i="0">
                <a:solidFill>
                  <a:srgbClr val="16211D"/>
                </a:solidFill>
                <a:latin typeface="Space Mono"/>
              </a:rPr>
              <a:t>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28600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 i="0" spc="150">
                <a:solidFill>
                  <a:srgbClr val="16211D"/>
                </a:solidFill>
                <a:latin typeface="Space Mono"/>
              </a:rPr>
              <a:t>HUMAN EDGE LEADERSHIP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32918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Lockup: roundel + wordmark in Space Mono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206240"/>
            <a:ext cx="3749039" cy="384048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00" b="1" i="0" spc="140">
                <a:solidFill>
                  <a:srgbClr val="16211D"/>
                </a:solidFill>
                <a:latin typeface="Space Mono"/>
              </a:rPr>
              <a:t>PROFOUNDLY HUMAN · LOREM IPSUM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425196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Kicker pill: outlined, Space Mono caps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029200"/>
            <a:ext cx="10515600" cy="1188720"/>
          </a:xfrm>
          <a:prstGeom prst="roundRect">
            <a:avLst>
              <a:gd name="adj" fmla="val 12000"/>
            </a:avLst>
          </a:prstGeom>
          <a:solidFill>
            <a:srgbClr val="16211D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 spc="140">
                <a:solidFill>
                  <a:srgbClr val="93D9C2"/>
                </a:solidFill>
                <a:latin typeface="Space Mono"/>
              </a:rPr>
              <a:t>ON DARK: </a:t>
            </a:r>
            <a:r>
              <a:rPr sz="1300" b="0" i="0">
                <a:solidFill>
                  <a:srgbClr val="FBFAF6"/>
                </a:solidFill>
                <a:latin typeface="Work Sans"/>
              </a:rPr>
              <a:t>  mint labels + paper text. Lorem ipsum dolor sit amet.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04 · BUTTONS + LABELS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2875788" y="649224"/>
            <a:ext cx="8554211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600" b="1" i="0">
                <a:solidFill>
                  <a:srgbClr val="16211D"/>
                </a:solidFill>
                <a:latin typeface="Fraunces"/>
              </a:rPr>
              <a:t>Buttons, pills + labels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651760" cy="475488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2540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 spc="100">
                <a:solidFill>
                  <a:srgbClr val="16211D"/>
                </a:solidFill>
                <a:latin typeface="Space Mono"/>
              </a:rPr>
              <a:t>PRIMARY · MINT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39" y="2103120"/>
            <a:ext cx="2651760" cy="475488"/>
          </a:xfrm>
          <a:prstGeom prst="roundRect">
            <a:avLst>
              <a:gd name="adj" fmla="val 50000"/>
            </a:avLst>
          </a:prstGeom>
          <a:solidFill>
            <a:srgbClr val="16211D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 spc="100">
                <a:solidFill>
                  <a:srgbClr val="FBFAF6"/>
                </a:solidFill>
                <a:latin typeface="Space Mono"/>
              </a:rPr>
              <a:t>STANDARD · INK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103120"/>
            <a:ext cx="2651760" cy="475488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 spc="100">
                <a:solidFill>
                  <a:srgbClr val="16211D"/>
                </a:solidFill>
                <a:latin typeface="Space Mono"/>
              </a:rPr>
              <a:t>GHOST · OUTLINE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43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Primary carries the hard offset shadow. One primary per slide; lorem ipsum dolor sit amet.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5661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SECTION LABEL · LOREM IPSUM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49039" y="3657600"/>
            <a:ext cx="7589520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931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The act-label: mono caps in mint deep + 2pt ink rule to the edge.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663440"/>
            <a:ext cx="2286000" cy="420624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00" b="1" i="0" spc="120">
                <a:solidFill>
                  <a:srgbClr val="16211D"/>
                </a:solidFill>
                <a:latin typeface="Space Mono"/>
              </a:rPr>
              <a:t>LOREM TAG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466344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900" b="1" i="0" spc="100">
                <a:solidFill>
                  <a:srgbClr val="16211D"/>
                </a:solidFill>
                <a:latin typeface="Space Mono"/>
              </a:rPr>
              <a:t>SKILL CHIP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257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Mint tags + chips for topics and categories. Join with + (never dashes): Lorem + Ipsum + Dolor.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05 · CARDS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20239" y="649224"/>
            <a:ext cx="9509759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600" b="1" i="0">
                <a:solidFill>
                  <a:srgbClr val="16211D"/>
                </a:solidFill>
                <a:latin typeface="Fraunces"/>
              </a:rPr>
              <a:t>Cards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2606040" cy="30175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/>
          <a:lstStyle/>
          <a:p>
            <a:pPr algn="l"/>
            <a:r>
              <a:rPr sz="1600" b="1" i="0">
                <a:solidFill>
                  <a:srgbClr val="16211D"/>
                </a:solidFill>
                <a:latin typeface="Fraunces"/>
              </a:rPr>
              <a:t>Lorem ipsum</a:t>
            </a:r>
          </a:p>
          <a:p>
            <a:pPr algn="l"/>
            <a:r>
              <a:rPr sz="110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 ante.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11880" y="1920240"/>
            <a:ext cx="2606040" cy="3017520"/>
          </a:xfrm>
          <a:prstGeom prst="roundRect">
            <a:avLst>
              <a:gd name="adj" fmla="val 9000"/>
            </a:avLst>
          </a:prstGeom>
          <a:solidFill>
            <a:srgbClr val="93D9C2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/>
          <a:lstStyle/>
          <a:p>
            <a:pPr algn="l"/>
            <a:r>
              <a:rPr sz="950" b="1" i="0" spc="140">
                <a:solidFill>
                  <a:srgbClr val="17705A"/>
                </a:solidFill>
                <a:latin typeface="Space Mono"/>
              </a:rPr>
              <a:t>CLUSTER 01</a:t>
            </a:r>
          </a:p>
          <a:p>
            <a:pPr algn="l"/>
            <a:r>
              <a:rPr sz="1600" b="1" i="0">
                <a:solidFill>
                  <a:srgbClr val="16211D"/>
                </a:solidFill>
                <a:latin typeface="Fraunces"/>
              </a:rPr>
              <a:t>Dolor sit amet</a:t>
            </a:r>
          </a:p>
          <a:p>
            <a:pPr algn="l"/>
            <a:r>
              <a:rPr sz="1100" b="0" i="1">
                <a:solidFill>
                  <a:srgbClr val="17705A"/>
                </a:solidFill>
                <a:latin typeface="Fraunces"/>
              </a:rPr>
              <a:t>the lorem ipsum</a:t>
            </a:r>
          </a:p>
          <a:p>
            <a:pPr algn="l"/>
            <a:r>
              <a:rPr sz="1100" b="0" i="0">
                <a:solidFill>
                  <a:srgbClr val="16211D"/>
                </a:solidFill>
                <a:latin typeface="Work Sans"/>
              </a:rPr>
              <a:t>Lorem ipsum dolor sit amet, consectetur adipiscing elit.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920240"/>
            <a:ext cx="2606040" cy="30175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995160" y="2194560"/>
            <a:ext cx="1600200" cy="402336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900" b="1" i="0" spc="100">
                <a:solidFill>
                  <a:srgbClr val="16211D"/>
                </a:solidFill>
                <a:latin typeface="Space Mono"/>
              </a:rPr>
              <a:t>LOREM TAG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788920"/>
            <a:ext cx="2057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16211D"/>
                </a:solidFill>
                <a:latin typeface="Fraunces"/>
              </a:rPr>
              <a:t>Ipsum dolor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56605B"/>
                </a:solidFill>
                <a:latin typeface="Work Sans"/>
              </a:rPr>
              <a:t>Lorem ipsum dolor sit amet, consectetur adipiscing elit. Cras mattis purus.</a:t>
            </a:r>
          </a:p>
        </p:txBody>
      </p:sp>
      <p:sp>
        <p:nvSpPr>
          <p:cNvPr id="11" name="Rounded Rectangle 10"/>
          <p:cNvSpPr/>
          <p:nvPr/>
        </p:nvSpPr>
        <p:spPr>
          <a:xfrm rot="21540000">
            <a:off x="9372600" y="1920240"/>
            <a:ext cx="2103120" cy="1371600"/>
          </a:xfrm>
          <a:prstGeom prst="roundRect">
            <a:avLst>
              <a:gd name="adj" fmla="val 14000"/>
            </a:avLst>
          </a:prstGeom>
          <a:solidFill>
            <a:srgbClr val="FBFAF6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850" b="1" i="0" spc="120">
                <a:solidFill>
                  <a:srgbClr val="17705A"/>
                </a:solidFill>
                <a:latin typeface="Space Mono"/>
              </a:rPr>
              <a:t>EXPERIENCE</a:t>
            </a:r>
          </a:p>
          <a:p>
            <a:pPr algn="l"/>
            <a:r>
              <a:rPr sz="1100" b="1" i="0">
                <a:solidFill>
                  <a:srgbClr val="16211D"/>
                </a:solidFill>
                <a:latin typeface="Work Sans"/>
              </a:rPr>
              <a:t>20+ lorem ipsum dolor sit</a:t>
            </a:r>
          </a:p>
        </p:txBody>
      </p:sp>
      <p:sp>
        <p:nvSpPr>
          <p:cNvPr id="12" name="Rounded Rectangle 11"/>
          <p:cNvSpPr/>
          <p:nvPr/>
        </p:nvSpPr>
        <p:spPr>
          <a:xfrm rot="60000">
            <a:off x="9464040" y="3566160"/>
            <a:ext cx="2103120" cy="1371600"/>
          </a:xfrm>
          <a:prstGeom prst="roundRect">
            <a:avLst>
              <a:gd name="adj" fmla="val 14000"/>
            </a:avLst>
          </a:prstGeom>
          <a:solidFill>
            <a:srgbClr val="FBFAF6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850" b="1" i="0" spc="120">
                <a:solidFill>
                  <a:srgbClr val="17705A"/>
                </a:solidFill>
                <a:latin typeface="Space Mono"/>
              </a:rPr>
              <a:t>CRAFT</a:t>
            </a:r>
          </a:p>
          <a:p>
            <a:pPr algn="l"/>
            <a:r>
              <a:rPr sz="1100" b="1" i="0">
                <a:solidFill>
                  <a:srgbClr val="16211D"/>
                </a:solidFill>
                <a:latin typeface="Work Sans"/>
              </a:rPr>
              <a:t>Lorem ipsum + dolor amet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257800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White card · mint cluster card · tag card · ticket cards (tilted 1–2°). All carry the 2.5pt ink border + hard shadow.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06 · BRAND 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2267712" y="649224"/>
            <a:ext cx="9162288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600" b="1" i="0">
                <a:solidFill>
                  <a:srgbClr val="16211D"/>
                </a:solidFill>
                <a:latin typeface="Fraunces"/>
              </a:rPr>
              <a:t>Cut-paper art + dividers</a:t>
            </a:r>
          </a:p>
        </p:txBody>
      </p:sp>
      <p:sp>
        <p:nvSpPr>
          <p:cNvPr id="6" name="Oval 5"/>
          <p:cNvSpPr/>
          <p:nvPr/>
        </p:nvSpPr>
        <p:spPr>
          <a:xfrm>
            <a:off x="2203704" y="2011680"/>
            <a:ext cx="1911095" cy="1911095"/>
          </a:xfrm>
          <a:prstGeom prst="ellipse">
            <a:avLst/>
          </a:prstGeom>
          <a:solidFill>
            <a:srgbClr val="93D9C2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1097280" y="2916936"/>
            <a:ext cx="1609344" cy="2112264"/>
          </a:xfrm>
          <a:prstGeom prst="round2SameRect">
            <a:avLst>
              <a:gd name="adj1" fmla="val 100000"/>
              <a:gd name="adj2" fmla="val 0"/>
            </a:avLst>
          </a:prstGeom>
          <a:blipFill>
            <a:blip r:embed="rId2"/>
            <a:tile tx="0" ty="0" sx="100000" sy="100000" flip="none" algn="tl"/>
          </a:blipFill>
          <a:effectLst/>
          <a:ln w="31750">
            <a:solidFill>
              <a:srgbClr val="1621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2807208" y="3671316"/>
            <a:ext cx="1408176" cy="1357884"/>
          </a:xfrm>
          <a:prstGeom prst="triangle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1240000">
            <a:off x="1449324" y="3771900"/>
            <a:ext cx="1860804" cy="402336"/>
          </a:xfrm>
          <a:prstGeom prst="rect">
            <a:avLst/>
          </a:prstGeom>
          <a:solidFill>
            <a:srgbClr val="FFFFFF"/>
          </a:solidFill>
          <a:ln w="2540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850" b="1" i="0" spc="100">
                <a:solidFill>
                  <a:srgbClr val="16211D"/>
                </a:solidFill>
                <a:latin typeface="Space Mono"/>
              </a:rPr>
              <a:t>ADMIT ONE · WHOLE HUMAN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486400"/>
            <a:ext cx="3840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The cut-paper composition: circle, striped arch, triangle + ticket.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20640" y="2286000"/>
            <a:ext cx="6400800" cy="237744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3080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652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2224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6796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368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5940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0512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084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9656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4228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8800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3372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944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2516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0640" y="269748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Film sprocket divider between major sections.</a:t>
            </a:r>
          </a:p>
        </p:txBody>
      </p:sp>
      <p:sp>
        <p:nvSpPr>
          <p:cNvPr id="34" name="Oval 33"/>
          <p:cNvSpPr/>
          <p:nvPr/>
        </p:nvSpPr>
        <p:spPr>
          <a:xfrm>
            <a:off x="5120640" y="3566160"/>
            <a:ext cx="685800" cy="685800"/>
          </a:xfrm>
          <a:prstGeom prst="ellipse">
            <a:avLst/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 i="0">
                <a:solidFill>
                  <a:srgbClr val="16211D"/>
                </a:solidFill>
                <a:latin typeface="Space Mono"/>
              </a:rPr>
              <a:t>C</a:t>
            </a:r>
          </a:p>
        </p:txBody>
      </p:sp>
      <p:sp>
        <p:nvSpPr>
          <p:cNvPr id="35" name="Oval 34"/>
          <p:cNvSpPr/>
          <p:nvPr/>
        </p:nvSpPr>
        <p:spPr>
          <a:xfrm>
            <a:off x="6126479" y="3566160"/>
            <a:ext cx="685800" cy="685800"/>
          </a:xfrm>
          <a:prstGeom prst="ellipse">
            <a:avLst/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 i="0">
                <a:solidFill>
                  <a:srgbClr val="16211D"/>
                </a:solidFill>
                <a:latin typeface="Space Mono"/>
              </a:rPr>
              <a:t>S</a:t>
            </a:r>
          </a:p>
        </p:txBody>
      </p:sp>
      <p:sp>
        <p:nvSpPr>
          <p:cNvPr id="36" name="Oval 35"/>
          <p:cNvSpPr/>
          <p:nvPr/>
        </p:nvSpPr>
        <p:spPr>
          <a:xfrm>
            <a:off x="7132320" y="3566160"/>
            <a:ext cx="685800" cy="685800"/>
          </a:xfrm>
          <a:prstGeom prst="ellipse">
            <a:avLst/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 i="0">
                <a:solidFill>
                  <a:srgbClr val="16211D"/>
                </a:solidFill>
                <a:latin typeface="Space Mono"/>
              </a:rPr>
              <a:t>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0640" y="4434840"/>
            <a:ext cx="5943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Icon roundels: mint circle + ink border. Drop a simple line icon or initial inside.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 spc="160">
                <a:solidFill>
                  <a:srgbClr val="17705A"/>
                </a:solidFill>
                <a:latin typeface="Space Mono"/>
              </a:rPr>
              <a:t>06B · THE ROBOTS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9144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6211D"/>
                </a:solidFill>
                <a:latin typeface="Fraunces"/>
              </a:rPr>
              <a:t>Robot friends: six scenes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86784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 spc="120">
                <a:solidFill>
                  <a:srgbClr val="17705A"/>
                </a:solidFill>
                <a:latin typeface="Space Mono"/>
              </a:rPr>
              <a:t>Scene 00 · Whole human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986784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 spc="120">
                <a:solidFill>
                  <a:srgbClr val="17705A"/>
                </a:solidFill>
                <a:latin typeface="Space Mono"/>
              </a:rPr>
              <a:t>Scene 01 · Rolling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3986784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 spc="120">
                <a:solidFill>
                  <a:srgbClr val="17705A"/>
                </a:solidFill>
                <a:latin typeface="Space Mono"/>
              </a:rPr>
              <a:t>Scene 02 · Real conversations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501384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 spc="120">
                <a:solidFill>
                  <a:srgbClr val="17705A"/>
                </a:solidFill>
                <a:latin typeface="Space Mono"/>
              </a:rPr>
              <a:t>Scene 03 · Storytelling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501384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 spc="120">
                <a:solidFill>
                  <a:srgbClr val="17705A"/>
                </a:solidFill>
                <a:latin typeface="Space Mono"/>
              </a:rPr>
              <a:t>Scene 04 · The ensemble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6501384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 spc="120">
                <a:solidFill>
                  <a:srgbClr val="17705A"/>
                </a:solidFill>
                <a:latin typeface="Space Mono"/>
              </a:rPr>
              <a:t>Scene 05 · Zumba o'clock</a:t>
            </a:r>
          </a:p>
        </p:txBody>
      </p:sp>
      <p:sp>
        <p:nvSpPr>
          <p:cNvPr id="17" name="Oval 16"/>
          <p:cNvSpPr/>
          <p:nvPr/>
        </p:nvSpPr>
        <p:spPr>
          <a:xfrm>
            <a:off x="1652778" y="1778508"/>
            <a:ext cx="1129284" cy="1129284"/>
          </a:xfrm>
          <a:prstGeom prst="ellipse">
            <a:avLst/>
          </a:prstGeom>
          <a:solidFill>
            <a:srgbClr val="93D9C2"/>
          </a:solidFill>
          <a:ln w="1524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1147572" y="2848356"/>
            <a:ext cx="950976" cy="1069848"/>
          </a:xfrm>
          <a:prstGeom prst="round2SameRect">
            <a:avLst>
              <a:gd name="adj1" fmla="val 100000"/>
              <a:gd name="adj2" fmla="val 0"/>
            </a:avLst>
          </a:prstGeom>
          <a:blipFill>
            <a:blip r:embed="rId8"/>
            <a:tile tx="0" ty="0" sx="100000" sy="100000" flip="none" algn="tl"/>
          </a:blipFill>
          <a:ln w="1524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949958" y="2996946"/>
            <a:ext cx="950976" cy="921258"/>
          </a:xfrm>
          <a:custGeom>
            <a:avLst/>
            <a:gdLst/>
            <a:ahLst/>
            <a:cxnLst/>
            <a:rect l="l" t="t" r="r" b="b"/>
            <a:pathLst>
              <a:path w="950976" h="921258">
                <a:moveTo>
                  <a:pt x="475488" y="0"/>
                </a:moveTo>
                <a:lnTo>
                  <a:pt x="950976" y="921258"/>
                </a:lnTo>
                <a:lnTo>
                  <a:pt x="0" y="921258"/>
                </a:lnTo>
                <a:close/>
              </a:path>
            </a:pathLst>
          </a:cu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1180000">
            <a:off x="1078880" y="3271771"/>
            <a:ext cx="1759305" cy="261518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1180000">
            <a:off x="1039138" y="3240722"/>
            <a:ext cx="1759305" cy="261518"/>
          </a:xfrm>
          <a:prstGeom prst="rect">
            <a:avLst/>
          </a:prstGeom>
          <a:solidFill>
            <a:srgbClr val="FFFFFF"/>
          </a:solidFill>
          <a:ln w="1524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00" b="1" spc="60">
                <a:solidFill>
                  <a:srgbClr val="16211D"/>
                </a:solidFill>
                <a:latin typeface="Space Mono"/>
              </a:rPr>
              <a:t>ADMIT ONE · WHOLE HUMAN</a:t>
            </a:r>
          </a:p>
        </p:txBody>
      </p:sp>
      <p:sp>
        <p:nvSpPr>
          <p:cNvPr id="21" name="Oval 20"/>
          <p:cNvSpPr/>
          <p:nvPr/>
        </p:nvSpPr>
        <p:spPr>
          <a:xfrm>
            <a:off x="6069787" y="1998421"/>
            <a:ext cx="570585" cy="570585"/>
          </a:xfrm>
          <a:prstGeom prst="ellipse">
            <a:avLst/>
          </a:prstGeom>
          <a:solidFill>
            <a:srgbClr val="93D9C2"/>
          </a:solidFill>
          <a:ln w="1524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 Same Side Corner Rectangle 21"/>
          <p:cNvSpPr/>
          <p:nvPr/>
        </p:nvSpPr>
        <p:spPr>
          <a:xfrm>
            <a:off x="6069787" y="2681935"/>
            <a:ext cx="570585" cy="939088"/>
          </a:xfrm>
          <a:prstGeom prst="round2SameRect">
            <a:avLst>
              <a:gd name="adj1" fmla="val 100000"/>
              <a:gd name="adj2" fmla="val 0"/>
            </a:avLst>
          </a:prstGeom>
          <a:blipFill>
            <a:blip r:embed="rId8"/>
            <a:tile tx="0" ty="0" sx="100000" sy="100000" flip="none" algn="tl"/>
          </a:blipFill>
          <a:ln w="1524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 flipH="1" flipV="1">
            <a:off x="5790438" y="2937510"/>
            <a:ext cx="303123" cy="178308"/>
          </a:xfrm>
          <a:prstGeom prst="line">
            <a:avLst/>
          </a:prstGeom>
          <a:ln w="35661" cap="rnd">
            <a:solidFill>
              <a:srgbClr val="16211D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077206" y="2699766"/>
            <a:ext cx="713232" cy="463600"/>
          </a:xfrm>
          <a:prstGeom prst="roundRect">
            <a:avLst>
              <a:gd name="adj" fmla="val 12820"/>
            </a:avLst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142585" y="2777032"/>
            <a:ext cx="309067" cy="309067"/>
          </a:xfrm>
          <a:prstGeom prst="ellipse">
            <a:avLst/>
          </a:prstGeom>
          <a:solidFill>
            <a:srgbClr val="93D9C2"/>
          </a:solidFill>
          <a:ln w="1524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237683" y="2872130"/>
            <a:ext cx="118872" cy="118872"/>
          </a:xfrm>
          <a:prstGeom prst="ellipse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095036" y="2450134"/>
            <a:ext cx="261518" cy="26151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392216" y="2450134"/>
            <a:ext cx="261518" cy="261518"/>
          </a:xfrm>
          <a:prstGeom prst="ellipse">
            <a:avLst/>
          </a:prstGeom>
          <a:solidFill>
            <a:srgbClr val="93D9C2"/>
          </a:solidFill>
          <a:ln w="1524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 flipH="1">
            <a:off x="5136642" y="3163366"/>
            <a:ext cx="148590" cy="665684"/>
          </a:xfrm>
          <a:prstGeom prst="line">
            <a:avLst/>
          </a:prstGeom>
          <a:ln w="35661" cap="rnd">
            <a:solidFill>
              <a:srgbClr val="16211D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582412" y="3163366"/>
            <a:ext cx="148590" cy="665684"/>
          </a:xfrm>
          <a:prstGeom prst="line">
            <a:avLst/>
          </a:prstGeom>
          <a:ln w="35661" cap="rnd">
            <a:solidFill>
              <a:srgbClr val="16211D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 rot="21240000">
            <a:off x="5206240" y="3689634"/>
            <a:ext cx="1164945" cy="237744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 rot="21240000">
            <a:off x="5167046" y="3657895"/>
            <a:ext cx="1164945" cy="237744"/>
          </a:xfrm>
          <a:prstGeom prst="rect">
            <a:avLst/>
          </a:prstGeom>
          <a:solidFill>
            <a:srgbClr val="FFFFFF"/>
          </a:solidFill>
          <a:ln w="1524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600" b="1" spc="60">
                <a:solidFill>
                  <a:srgbClr val="16211D"/>
                </a:solidFill>
                <a:latin typeface="Space Mono"/>
              </a:rPr>
              <a:t>SCENE 01 · ROLLING</a:t>
            </a:r>
          </a:p>
        </p:txBody>
      </p:sp>
      <p:sp>
        <p:nvSpPr>
          <p:cNvPr id="33" name="Oval 32"/>
          <p:cNvSpPr/>
          <p:nvPr/>
        </p:nvSpPr>
        <p:spPr>
          <a:xfrm>
            <a:off x="8816644" y="2331262"/>
            <a:ext cx="499262" cy="499262"/>
          </a:xfrm>
          <a:prstGeom prst="ellipse">
            <a:avLst/>
          </a:prstGeom>
          <a:solidFill>
            <a:srgbClr val="93D9C2"/>
          </a:solidFill>
          <a:ln w="1524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8816644" y="2866186"/>
            <a:ext cx="499262" cy="933145"/>
          </a:xfrm>
          <a:prstGeom prst="round2SameRect">
            <a:avLst>
              <a:gd name="adj1" fmla="val 100000"/>
              <a:gd name="adj2" fmla="val 0"/>
            </a:avLst>
          </a:prstGeom>
          <a:blipFill>
            <a:blip r:embed="rId8"/>
            <a:tile tx="0" ty="0" sx="100000" sy="100000" flip="none" algn="tl"/>
          </a:blipFill>
          <a:ln w="1524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969703" y="2444191"/>
            <a:ext cx="451713" cy="451713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9809226" y="2979115"/>
            <a:ext cx="772668" cy="820217"/>
          </a:xfrm>
          <a:custGeom>
            <a:avLst/>
            <a:gdLst/>
            <a:ahLst/>
            <a:cxnLst/>
            <a:rect l="l" t="t" r="r" b="b"/>
            <a:pathLst>
              <a:path w="772668" h="820217">
                <a:moveTo>
                  <a:pt x="386334" y="0"/>
                </a:moveTo>
                <a:lnTo>
                  <a:pt x="772668" y="820217"/>
                </a:lnTo>
                <a:lnTo>
                  <a:pt x="0" y="820217"/>
                </a:lnTo>
                <a:close/>
              </a:path>
            </a:pathLst>
          </a:cu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214866" y="1909267"/>
            <a:ext cx="618134" cy="297180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1524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9304020" y="2194560"/>
            <a:ext cx="190195" cy="130759"/>
          </a:xfrm>
          <a:custGeom>
            <a:avLst/>
            <a:gdLst/>
            <a:ahLst/>
            <a:cxnLst/>
            <a:rect l="l" t="t" r="r" b="b"/>
            <a:pathLst>
              <a:path w="190195" h="130759">
                <a:moveTo>
                  <a:pt x="59436" y="0"/>
                </a:moveTo>
                <a:lnTo>
                  <a:pt x="0" y="130759"/>
                </a:lnTo>
                <a:lnTo>
                  <a:pt x="190195" y="5943"/>
                </a:lnTo>
                <a:close/>
              </a:path>
            </a:pathLst>
          </a:custGeom>
          <a:solidFill>
            <a:srgbClr val="93D9C2"/>
          </a:solidFill>
          <a:ln w="1524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363456" y="2028139"/>
            <a:ext cx="59436" cy="59436"/>
          </a:xfrm>
          <a:prstGeom prst="ellipse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494215" y="2028139"/>
            <a:ext cx="59436" cy="59436"/>
          </a:xfrm>
          <a:prstGeom prst="ellipse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624974" y="2028139"/>
            <a:ext cx="59436" cy="59436"/>
          </a:xfrm>
          <a:prstGeom prst="ellipse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945928" y="2147011"/>
            <a:ext cx="511149" cy="26151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0171785" y="2390698"/>
            <a:ext cx="130759" cy="130760"/>
          </a:xfrm>
          <a:custGeom>
            <a:avLst/>
            <a:gdLst/>
            <a:ahLst/>
            <a:cxnLst/>
            <a:rect l="l" t="t" r="r" b="b"/>
            <a:pathLst>
              <a:path w="130759" h="130760">
                <a:moveTo>
                  <a:pt x="0" y="5944"/>
                </a:moveTo>
                <a:lnTo>
                  <a:pt x="23775" y="130760"/>
                </a:lnTo>
                <a:lnTo>
                  <a:pt x="130759" y="0"/>
                </a:lnTo>
                <a:close/>
              </a:path>
            </a:pathLst>
          </a:custGeom>
          <a:solidFill>
            <a:srgbClr val="FFFFFF"/>
          </a:solidFill>
          <a:ln w="1524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10052913" y="2277770"/>
            <a:ext cx="297180" cy="0"/>
          </a:xfrm>
          <a:prstGeom prst="line">
            <a:avLst/>
          </a:prstGeom>
          <a:ln w="23774" cap="rnd">
            <a:solidFill>
              <a:srgbClr val="16211D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 rot="21300000">
            <a:off x="8808293" y="3808988"/>
            <a:ext cx="1640433" cy="237744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 rot="21300000">
            <a:off x="8769659" y="3776571"/>
            <a:ext cx="1640433" cy="237744"/>
          </a:xfrm>
          <a:prstGeom prst="rect">
            <a:avLst/>
          </a:prstGeom>
          <a:solidFill>
            <a:srgbClr val="FFFFFF"/>
          </a:solidFill>
          <a:ln w="1524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600" b="1" spc="60">
                <a:solidFill>
                  <a:srgbClr val="16211D"/>
                </a:solidFill>
                <a:latin typeface="Space Mono"/>
              </a:rPr>
              <a:t>REAL CONVERSATIONS</a:t>
            </a:r>
          </a:p>
        </p:txBody>
      </p:sp>
      <p:sp>
        <p:nvSpPr>
          <p:cNvPr id="44" name="Oval 43"/>
          <p:cNvSpPr/>
          <p:nvPr/>
        </p:nvSpPr>
        <p:spPr>
          <a:xfrm>
            <a:off x="1634947" y="4542739"/>
            <a:ext cx="570585" cy="570585"/>
          </a:xfrm>
          <a:prstGeom prst="ellipse">
            <a:avLst/>
          </a:prstGeom>
          <a:solidFill>
            <a:srgbClr val="93D9C2"/>
          </a:solidFill>
          <a:ln w="1524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1634947" y="5255971"/>
            <a:ext cx="570585" cy="998524"/>
          </a:xfrm>
          <a:prstGeom prst="round2SameRect">
            <a:avLst>
              <a:gd name="adj1" fmla="val 100000"/>
              <a:gd name="adj2" fmla="val 0"/>
            </a:avLst>
          </a:prstGeom>
          <a:blipFill>
            <a:blip r:embed="rId8"/>
            <a:tile tx="0" ty="0" sx="100000" sy="100000" flip="none" algn="tl"/>
          </a:blipFill>
          <a:ln w="1524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355598" y="5672023"/>
            <a:ext cx="564642" cy="523037"/>
          </a:xfrm>
          <a:custGeom>
            <a:avLst/>
            <a:gdLst/>
            <a:ahLst/>
            <a:cxnLst/>
            <a:rect l="l" t="t" r="r" b="b"/>
            <a:pathLst>
              <a:path w="564642" h="523037">
                <a:moveTo>
                  <a:pt x="0" y="136703"/>
                </a:moveTo>
                <a:lnTo>
                  <a:pt x="564642" y="0"/>
                </a:lnTo>
                <a:lnTo>
                  <a:pt x="564642" y="404165"/>
                </a:lnTo>
                <a:lnTo>
                  <a:pt x="0" y="523037"/>
                </a:lnTo>
                <a:close/>
              </a:path>
            </a:pathLst>
          </a:custGeom>
          <a:solidFill>
            <a:srgbClr val="FFFFFF"/>
          </a:solidFill>
          <a:ln w="1524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1920240" y="5672023"/>
            <a:ext cx="564642" cy="523037"/>
          </a:xfrm>
          <a:custGeom>
            <a:avLst/>
            <a:gdLst/>
            <a:ahLst/>
            <a:cxnLst/>
            <a:rect l="l" t="t" r="r" b="b"/>
            <a:pathLst>
              <a:path w="564642" h="523037">
                <a:moveTo>
                  <a:pt x="564642" y="136703"/>
                </a:moveTo>
                <a:lnTo>
                  <a:pt x="0" y="0"/>
                </a:lnTo>
                <a:lnTo>
                  <a:pt x="0" y="404165"/>
                </a:lnTo>
                <a:lnTo>
                  <a:pt x="564642" y="523037"/>
                </a:lnTo>
                <a:close/>
              </a:path>
            </a:pathLst>
          </a:custGeom>
          <a:solidFill>
            <a:srgbClr val="FFFFFF"/>
          </a:solidFill>
          <a:ln w="1524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 flipV="1">
            <a:off x="1456639" y="5808726"/>
            <a:ext cx="374447" cy="89154"/>
          </a:xfrm>
          <a:prstGeom prst="line">
            <a:avLst/>
          </a:prstGeom>
          <a:ln w="17830" cap="rnd">
            <a:solidFill>
              <a:srgbClr val="16211D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1456639" y="5927598"/>
            <a:ext cx="374447" cy="89154"/>
          </a:xfrm>
          <a:prstGeom prst="line">
            <a:avLst/>
          </a:prstGeom>
          <a:ln w="17830" cap="rnd">
            <a:solidFill>
              <a:srgbClr val="16211D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009394" y="5808726"/>
            <a:ext cx="374446" cy="89154"/>
          </a:xfrm>
          <a:prstGeom prst="line">
            <a:avLst/>
          </a:prstGeom>
          <a:ln w="17830" cap="rnd">
            <a:solidFill>
              <a:srgbClr val="16211D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1195120" y="4798314"/>
            <a:ext cx="202083" cy="196138"/>
          </a:xfrm>
          <a:custGeom>
            <a:avLst/>
            <a:gdLst/>
            <a:ahLst/>
            <a:cxnLst/>
            <a:rect l="l" t="t" r="r" b="b"/>
            <a:pathLst>
              <a:path w="202083" h="196138">
                <a:moveTo>
                  <a:pt x="101042" y="0"/>
                </a:moveTo>
                <a:lnTo>
                  <a:pt x="202083" y="196138"/>
                </a:lnTo>
                <a:lnTo>
                  <a:pt x="0" y="196138"/>
                </a:lnTo>
                <a:close/>
              </a:path>
            </a:pathLst>
          </a:custGeom>
          <a:solidFill>
            <a:srgbClr val="93D9C2"/>
          </a:solidFill>
          <a:ln w="1524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391259" y="4507077"/>
            <a:ext cx="106984" cy="106984"/>
          </a:xfrm>
          <a:prstGeom prst="ellipse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2443276" y="4590288"/>
            <a:ext cx="202083" cy="196138"/>
          </a:xfrm>
          <a:custGeom>
            <a:avLst/>
            <a:gdLst/>
            <a:ahLst/>
            <a:cxnLst/>
            <a:rect l="l" t="t" r="r" b="b"/>
            <a:pathLst>
              <a:path w="202083" h="196138">
                <a:moveTo>
                  <a:pt x="101042" y="0"/>
                </a:moveTo>
                <a:lnTo>
                  <a:pt x="202083" y="196138"/>
                </a:lnTo>
                <a:lnTo>
                  <a:pt x="0" y="196138"/>
                </a:lnTo>
                <a:close/>
              </a:path>
            </a:pathLst>
          </a:custGeom>
          <a:solidFill>
            <a:srgbClr val="93D9C2"/>
          </a:solidFill>
          <a:ln w="1524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2645359" y="4958791"/>
            <a:ext cx="95097" cy="95097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 rot="21300000">
            <a:off x="1068415" y="6359227"/>
            <a:ext cx="1759305" cy="237744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 rot="21300000">
            <a:off x="1029781" y="6326810"/>
            <a:ext cx="1759305" cy="237744"/>
          </a:xfrm>
          <a:prstGeom prst="rect">
            <a:avLst/>
          </a:prstGeom>
          <a:solidFill>
            <a:srgbClr val="FFFFFF"/>
          </a:solidFill>
          <a:ln w="1524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600" b="1" spc="60">
                <a:solidFill>
                  <a:srgbClr val="16211D"/>
                </a:solidFill>
                <a:latin typeface="Space Mono"/>
              </a:rPr>
              <a:t>ONCE UPON A WORKPLACE</a:t>
            </a:r>
          </a:p>
        </p:txBody>
      </p:sp>
      <p:sp>
        <p:nvSpPr>
          <p:cNvPr id="55" name="Oval 54"/>
          <p:cNvSpPr/>
          <p:nvPr/>
        </p:nvSpPr>
        <p:spPr>
          <a:xfrm>
            <a:off x="4857292" y="5244084"/>
            <a:ext cx="380390" cy="380390"/>
          </a:xfrm>
          <a:prstGeom prst="ellipse">
            <a:avLst/>
          </a:prstGeom>
          <a:solidFill>
            <a:srgbClr val="93D9C2"/>
          </a:solidFill>
          <a:ln w="1524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 Same Side Corner Rectangle 55"/>
          <p:cNvSpPr/>
          <p:nvPr/>
        </p:nvSpPr>
        <p:spPr>
          <a:xfrm>
            <a:off x="4845405" y="5636361"/>
            <a:ext cx="404164" cy="707288"/>
          </a:xfrm>
          <a:prstGeom prst="round2SameRect">
            <a:avLst>
              <a:gd name="adj1" fmla="val 100000"/>
              <a:gd name="adj2" fmla="val 0"/>
            </a:avLst>
          </a:prstGeom>
          <a:blipFill>
            <a:blip r:embed="rId8"/>
            <a:tile tx="0" ty="0" sx="100000" sy="100000" flip="none" algn="tl"/>
          </a:blipFill>
          <a:ln w="1524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517032" y="4566513"/>
            <a:ext cx="546811" cy="546811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 Same Side Corner Rectangle 57"/>
          <p:cNvSpPr/>
          <p:nvPr/>
        </p:nvSpPr>
        <p:spPr>
          <a:xfrm>
            <a:off x="5511088" y="5172760"/>
            <a:ext cx="558698" cy="1170889"/>
          </a:xfrm>
          <a:prstGeom prst="round2SameRect">
            <a:avLst>
              <a:gd name="adj1" fmla="val 100000"/>
              <a:gd name="adj2" fmla="val 0"/>
            </a:avLst>
          </a:prstGeom>
          <a:blipFill>
            <a:blip r:embed="rId8"/>
            <a:tile tx="0" ty="0" sx="100000" sy="100000" flip="none" algn="tl"/>
          </a:blipFill>
          <a:ln w="1524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289700" y="5042001"/>
            <a:ext cx="427939" cy="427939"/>
          </a:xfrm>
          <a:prstGeom prst="ellipse">
            <a:avLst/>
          </a:prstGeom>
          <a:solidFill>
            <a:srgbClr val="93D9C2"/>
          </a:solidFill>
          <a:ln w="1524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6129223" y="5553151"/>
            <a:ext cx="748893" cy="790499"/>
          </a:xfrm>
          <a:custGeom>
            <a:avLst/>
            <a:gdLst/>
            <a:ahLst/>
            <a:cxnLst/>
            <a:rect l="l" t="t" r="r" b="b"/>
            <a:pathLst>
              <a:path w="748893" h="790499">
                <a:moveTo>
                  <a:pt x="374447" y="0"/>
                </a:moveTo>
                <a:lnTo>
                  <a:pt x="748893" y="790499"/>
                </a:lnTo>
                <a:lnTo>
                  <a:pt x="0" y="790499"/>
                </a:lnTo>
                <a:close/>
              </a:path>
            </a:pathLst>
          </a:cu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 rot="21360000">
            <a:off x="5086408" y="6371593"/>
            <a:ext cx="1402689" cy="237744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 rot="21360000">
            <a:off x="5048346" y="6338506"/>
            <a:ext cx="1402689" cy="237744"/>
          </a:xfrm>
          <a:prstGeom prst="rect">
            <a:avLst/>
          </a:prstGeom>
          <a:solidFill>
            <a:srgbClr val="FFFFFF"/>
          </a:solidFill>
          <a:ln w="1524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600" b="1" spc="60">
                <a:solidFill>
                  <a:srgbClr val="16211D"/>
                </a:solidFill>
                <a:latin typeface="Space Mono"/>
              </a:rPr>
              <a:t>THE ENSEMBLE</a:t>
            </a:r>
          </a:p>
        </p:txBody>
      </p:sp>
      <p:sp>
        <p:nvSpPr>
          <p:cNvPr id="63" name="Oval 62"/>
          <p:cNvSpPr/>
          <p:nvPr/>
        </p:nvSpPr>
        <p:spPr>
          <a:xfrm>
            <a:off x="8876080" y="4756708"/>
            <a:ext cx="142646" cy="142646"/>
          </a:xfrm>
          <a:prstGeom prst="ellipse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 flipV="1">
            <a:off x="9018727" y="4483303"/>
            <a:ext cx="0" cy="344729"/>
          </a:xfrm>
          <a:prstGeom prst="line">
            <a:avLst/>
          </a:prstGeom>
          <a:ln w="29718" cap="rnd">
            <a:solidFill>
              <a:srgbClr val="16211D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9018727" y="4447641"/>
            <a:ext cx="178308" cy="130759"/>
          </a:xfrm>
          <a:custGeom>
            <a:avLst/>
            <a:gdLst/>
            <a:ahLst/>
            <a:cxnLst/>
            <a:rect l="l" t="t" r="r" b="b"/>
            <a:pathLst>
              <a:path w="178308" h="130759">
                <a:moveTo>
                  <a:pt x="0" y="35662"/>
                </a:moveTo>
                <a:lnTo>
                  <a:pt x="106985" y="0"/>
                </a:lnTo>
                <a:lnTo>
                  <a:pt x="166421" y="35662"/>
                </a:lnTo>
                <a:lnTo>
                  <a:pt x="178308" y="130759"/>
                </a:lnTo>
              </a:path>
            </a:pathLst>
          </a:custGeom>
          <a:noFill/>
          <a:ln w="29209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9161373" y="5071719"/>
            <a:ext cx="106984" cy="106984"/>
          </a:xfrm>
          <a:prstGeom prst="ellipse">
            <a:avLst/>
          </a:prstGeom>
          <a:solidFill>
            <a:srgbClr val="93D9C2"/>
          </a:solidFill>
          <a:ln w="1524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10201503" y="4530852"/>
            <a:ext cx="202083" cy="196138"/>
          </a:xfrm>
          <a:custGeom>
            <a:avLst/>
            <a:gdLst/>
            <a:ahLst/>
            <a:cxnLst/>
            <a:rect l="l" t="t" r="r" b="b"/>
            <a:pathLst>
              <a:path w="202083" h="196138">
                <a:moveTo>
                  <a:pt x="101041" y="0"/>
                </a:moveTo>
                <a:lnTo>
                  <a:pt x="202083" y="196138"/>
                </a:lnTo>
                <a:lnTo>
                  <a:pt x="0" y="196138"/>
                </a:lnTo>
                <a:close/>
              </a:path>
            </a:pathLst>
          </a:custGeom>
          <a:solidFill>
            <a:srgbClr val="93D9C2"/>
          </a:solidFill>
          <a:ln w="1524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9660916" y="4687042"/>
            <a:ext cx="546811" cy="546811"/>
          </a:xfrm>
          <a:prstGeom prst="ellipse">
            <a:avLst/>
          </a:prstGeom>
          <a:solidFill>
            <a:srgbClr val="93D9C2"/>
          </a:solidFill>
          <a:ln w="1524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 Same Side Corner Rectangle 68"/>
          <p:cNvSpPr/>
          <p:nvPr/>
        </p:nvSpPr>
        <p:spPr>
          <a:xfrm rot="600000">
            <a:off x="9512046" y="5298170"/>
            <a:ext cx="546811" cy="1016355"/>
          </a:xfrm>
          <a:prstGeom prst="round2SameRect">
            <a:avLst>
              <a:gd name="adj1" fmla="val 100000"/>
              <a:gd name="adj2" fmla="val 0"/>
            </a:avLst>
          </a:prstGeom>
          <a:blipFill>
            <a:blip r:embed="rId8"/>
            <a:tile tx="0" ty="0" sx="100000" sy="100000" flip="none" algn="tl"/>
          </a:blipFill>
          <a:ln w="1524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H="1" flipV="1">
            <a:off x="9330117" y="5306557"/>
            <a:ext cx="217648" cy="340142"/>
          </a:xfrm>
          <a:prstGeom prst="line">
            <a:avLst/>
          </a:prstGeom>
          <a:ln w="35661" cap="rnd">
            <a:solidFill>
              <a:srgbClr val="16211D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10062855" y="5550867"/>
            <a:ext cx="310536" cy="186656"/>
          </a:xfrm>
          <a:prstGeom prst="line">
            <a:avLst/>
          </a:prstGeom>
          <a:ln w="35661" cap="rnd">
            <a:solidFill>
              <a:srgbClr val="16211D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9242786" y="5199955"/>
            <a:ext cx="118872" cy="11887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0356299" y="5456651"/>
            <a:ext cx="118872" cy="11887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 rot="21240000">
            <a:off x="8987840" y="6369379"/>
            <a:ext cx="1283817" cy="237744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 rot="21240000">
            <a:off x="8948646" y="6337641"/>
            <a:ext cx="1283817" cy="237744"/>
          </a:xfrm>
          <a:prstGeom prst="rect">
            <a:avLst/>
          </a:prstGeom>
          <a:solidFill>
            <a:srgbClr val="FFFFFF"/>
          </a:solidFill>
          <a:ln w="1524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600" b="1" spc="60">
                <a:solidFill>
                  <a:srgbClr val="16211D"/>
                </a:solidFill>
                <a:latin typeface="Space Mono"/>
              </a:rPr>
              <a:t>ZUMBA O'CLOCK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PART 1 · LOREM IPSUM · DOLOR SIT AMET</a:t>
            </a:r>
          </a:p>
        </p:txBody>
      </p:sp>
      <p:sp>
        <p:nvSpPr>
          <p:cNvPr id="4" name="Rectangle 3"/>
          <p:cNvSpPr/>
          <p:nvPr/>
        </p:nvSpPr>
        <p:spPr>
          <a:xfrm>
            <a:off x="4265676" y="1289304"/>
            <a:ext cx="7347204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4241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400" b="1" i="0">
                <a:solidFill>
                  <a:srgbClr val="16211D"/>
                </a:solidFill>
                <a:latin typeface="Fraunces"/>
              </a:rPr>
              <a:t>Lorem ipsum dolor sit amet, </a:t>
            </a:r>
            <a:r>
              <a:rPr sz="4400" b="0" i="1">
                <a:solidFill>
                  <a:srgbClr val="17705A"/>
                </a:solidFill>
                <a:latin typeface="Fraunces"/>
              </a:rPr>
              <a:t>consectetur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7772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 ante venenatis dapibus posuere velit aliquet.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12845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20832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28820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36807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244794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752782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260769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768756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276744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784731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292718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800705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8693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816680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24667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832655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340642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848629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356617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64604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72591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880578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388566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896553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PART 2 · LOREM IPSUM</a:t>
            </a:r>
          </a:p>
        </p:txBody>
      </p:sp>
      <p:sp>
        <p:nvSpPr>
          <p:cNvPr id="4" name="Rectangle 3"/>
          <p:cNvSpPr/>
          <p:nvPr/>
        </p:nvSpPr>
        <p:spPr>
          <a:xfrm>
            <a:off x="2788920" y="649224"/>
            <a:ext cx="8823960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200" b="1" i="0">
                <a:solidFill>
                  <a:srgbClr val="16211D"/>
                </a:solidFill>
                <a:latin typeface="Fraunces"/>
              </a:rPr>
              <a:t>Lorem ipsum dolor sit amet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920240"/>
            <a:ext cx="12191695" cy="4114800"/>
          </a:xfrm>
          <a:prstGeom prst="rect">
            <a:avLst/>
          </a:prstGeom>
          <a:solidFill>
            <a:srgbClr val="93D9C2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377440"/>
            <a:ext cx="3291840" cy="3017520"/>
          </a:xfrm>
          <a:prstGeom prst="roundRect">
            <a:avLst>
              <a:gd name="adj" fmla="val 9000"/>
            </a:avLst>
          </a:prstGeom>
          <a:solidFill>
            <a:srgbClr val="FBFAF6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/>
          <a:lstStyle/>
          <a:p>
            <a:pPr algn="l"/>
            <a:r>
              <a:rPr sz="1700" b="1" i="0">
                <a:solidFill>
                  <a:srgbClr val="16211D"/>
                </a:solidFill>
                <a:latin typeface="Fraunces"/>
              </a:rPr>
              <a:t>Lorem 1</a:t>
            </a:r>
          </a:p>
          <a:p>
            <a:pPr algn="l"/>
            <a:r>
              <a:rPr sz="115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 ante venenatis.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2377440"/>
            <a:ext cx="3291840" cy="3017520"/>
          </a:xfrm>
          <a:prstGeom prst="roundRect">
            <a:avLst>
              <a:gd name="adj" fmla="val 9000"/>
            </a:avLst>
          </a:prstGeom>
          <a:solidFill>
            <a:srgbClr val="FBFAF6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/>
          <a:lstStyle/>
          <a:p>
            <a:pPr algn="l"/>
            <a:r>
              <a:rPr sz="1700" b="1" i="0">
                <a:solidFill>
                  <a:srgbClr val="16211D"/>
                </a:solidFill>
                <a:latin typeface="Fraunces"/>
              </a:rPr>
              <a:t>Lorem 2</a:t>
            </a:r>
          </a:p>
          <a:p>
            <a:pPr algn="l"/>
            <a:r>
              <a:rPr sz="115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 ante venenatis.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2377440"/>
            <a:ext cx="3291840" cy="3017520"/>
          </a:xfrm>
          <a:prstGeom prst="roundRect">
            <a:avLst>
              <a:gd name="adj" fmla="val 9000"/>
            </a:avLst>
          </a:prstGeom>
          <a:solidFill>
            <a:srgbClr val="FBFAF6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/>
          <a:lstStyle/>
          <a:p>
            <a:pPr algn="l"/>
            <a:r>
              <a:rPr sz="1700" b="1" i="0">
                <a:solidFill>
                  <a:srgbClr val="16211D"/>
                </a:solidFill>
                <a:latin typeface="Fraunces"/>
              </a:rPr>
              <a:t>Lorem 3</a:t>
            </a:r>
          </a:p>
          <a:p>
            <a:pPr algn="l"/>
            <a:r>
              <a:rPr sz="115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 ante venenatis.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LOREM IPSUM · IN THEIR WORDS</a:t>
            </a:r>
          </a:p>
        </p:txBody>
      </p:sp>
      <p:sp>
        <p:nvSpPr>
          <p:cNvPr id="4" name="Rectangle 3"/>
          <p:cNvSpPr/>
          <p:nvPr/>
        </p:nvSpPr>
        <p:spPr>
          <a:xfrm>
            <a:off x="3483864" y="649224"/>
            <a:ext cx="8129016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920240" y="1737360"/>
            <a:ext cx="8321040" cy="3017520"/>
          </a:xfrm>
          <a:prstGeom prst="roundRect">
            <a:avLst>
              <a:gd name="adj" fmla="val 10000"/>
            </a:avLst>
          </a:prstGeom>
          <a:solidFill>
            <a:srgbClr val="93D9C2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000" b="0" i="1">
                <a:solidFill>
                  <a:srgbClr val="16211D"/>
                </a:solidFill>
                <a:latin typeface="Fraunces"/>
              </a:rPr>
              <a:t>“Lorem ipsum dolor sit amet, consectetur adipiscing elit. Integer posuere erat a ante venenatis dapibus posuere velit aliquet. Cras mattis consectetur purus sit amet fermentum.”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5029200"/>
            <a:ext cx="8321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050" b="1" i="0" spc="140">
                <a:solidFill>
                  <a:srgbClr val="17705A"/>
                </a:solidFill>
                <a:latin typeface="Space Mono"/>
              </a:rPr>
              <a:t>LOREM IPSUM · DOLOR SIT AMET, CONSECTETUR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12845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20832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228820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36807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44794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782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260769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768756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76744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784731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292718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800705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08693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816680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24667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832655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40642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848629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356617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864604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72591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880578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388566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896553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1554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100" b="1" i="0" spc="160">
                <a:solidFill>
                  <a:srgbClr val="17705A"/>
                </a:solidFill>
                <a:latin typeface="Space Mono"/>
              </a:rPr>
              <a:t>— LOREM IPSUM · DOLOR SIT 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4800" b="1" i="0">
                <a:solidFill>
                  <a:srgbClr val="16211D"/>
                </a:solidFill>
                <a:latin typeface="Fraunces"/>
              </a:rPr>
              <a:t>Lorem ipsum </a:t>
            </a:r>
            <a:r>
              <a:rPr sz="4800" b="0" i="1">
                <a:solidFill>
                  <a:srgbClr val="17705A"/>
                </a:solidFill>
                <a:latin typeface="Fraunces"/>
              </a:rPr>
              <a:t>dolor?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51760" y="3657600"/>
            <a:ext cx="6858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40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 ante venenatis dapibus posuere velit aliquet.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892040" y="4754880"/>
            <a:ext cx="2468880" cy="475488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2540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 spc="100">
                <a:solidFill>
                  <a:srgbClr val="16211D"/>
                </a:solidFill>
                <a:latin typeface="Space Mono"/>
              </a:rPr>
              <a:t>LOREM IPSUM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1" i="0" spc="140">
                <a:solidFill>
                  <a:srgbClr val="56605B"/>
                </a:solidFill>
                <a:latin typeface="Space Mono"/>
              </a:rPr>
              <a:t>HUMAN EDGE LEADERSHIP · LOREM IPSUM DOLOR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07 · LAYOUT: HERO BLOCK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9524" y="557784"/>
            <a:ext cx="8563356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960120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00" b="1" i="0" spc="140">
                <a:solidFill>
                  <a:srgbClr val="16211D"/>
                </a:solidFill>
                <a:latin typeface="Space Mono"/>
              </a:rPr>
              <a:t>LOREM IPSUM · DOLOR SIT AMET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6309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4000" b="1" i="0">
                <a:solidFill>
                  <a:srgbClr val="16211D"/>
                </a:solidFill>
                <a:latin typeface="Fraunces"/>
              </a:rPr>
              <a:t>Lorem ipsum dolor. </a:t>
            </a:r>
            <a:r>
              <a:rPr sz="4000" b="0" i="1">
                <a:solidFill>
                  <a:srgbClr val="17705A"/>
                </a:solidFill>
                <a:latin typeface="Fraunces"/>
              </a:rPr>
              <a:t>Sit amet</a:t>
            </a:r>
            <a:r>
              <a:rPr sz="4000" b="1" i="0">
                <a:solidFill>
                  <a:srgbClr val="16211D"/>
                </a:solidFill>
                <a:latin typeface="Fraunces"/>
              </a:rPr>
              <a:t> consectetur elit.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29000"/>
            <a:ext cx="5852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 ante venenatis dapibus posuere velit aliquet.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 i="0">
                <a:solidFill>
                  <a:srgbClr val="56605B"/>
                </a:solidFill>
                <a:latin typeface="Work Sans"/>
              </a:rPr>
              <a:t>Lorem ipsum dolor sit amet, consectetur adipiscing elit.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892040"/>
            <a:ext cx="2651760" cy="475488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2540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 spc="100">
                <a:solidFill>
                  <a:srgbClr val="16211D"/>
                </a:solidFill>
                <a:latin typeface="Space Mono"/>
              </a:rPr>
              <a:t>LOREM IPSUM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11880" y="4892040"/>
            <a:ext cx="2651760" cy="475488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 spc="100">
                <a:solidFill>
                  <a:srgbClr val="16211D"/>
                </a:solidFill>
                <a:latin typeface="Space Mono"/>
              </a:rPr>
              <a:t>DOLOR SIT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760720"/>
            <a:ext cx="8686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1" i="0" spc="120">
                <a:solidFill>
                  <a:srgbClr val="56605B"/>
                </a:solidFill>
                <a:latin typeface="Space Mono"/>
              </a:rPr>
              <a:t>20+ LOREM + IPSUM      DOLOR + SIT      AMET + CONSECTETUR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06640" y="1554480"/>
            <a:ext cx="4023360" cy="3017520"/>
          </a:xfrm>
          <a:prstGeom prst="roundRect">
            <a:avLst>
              <a:gd name="adj" fmla="val 8000"/>
            </a:avLst>
          </a:prstGeom>
          <a:solidFill>
            <a:srgbClr val="10201A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098280" y="2743199"/>
            <a:ext cx="640080" cy="640080"/>
          </a:xfrm>
          <a:prstGeom prst="ellipse">
            <a:avLst/>
          </a:prstGeom>
          <a:solidFill>
            <a:srgbClr val="FBFAF6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 rot="5400000">
            <a:off x="9309506" y="2922422"/>
            <a:ext cx="256031" cy="281635"/>
          </a:xfrm>
          <a:prstGeom prst="triangle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35240" y="4005072"/>
            <a:ext cx="3108960" cy="365760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850" b="1" i="0" spc="100">
                <a:solidFill>
                  <a:srgbClr val="16211D"/>
                </a:solidFill>
                <a:latin typeface="Space Mono"/>
              </a:rPr>
              <a:t>SHOT 1 · LOREM IPSUM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0" y="4709160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00" b="0" i="0">
                <a:solidFill>
                  <a:srgbClr val="56605B"/>
                </a:solidFill>
                <a:latin typeface="Work Sans"/>
              </a:rPr>
              <a:t>Video card: dark frame + play roundel + caption chip.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08 · MEDIA CARDS + PLACEHOLDERS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3744468" y="557784"/>
            <a:ext cx="7868412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6211D"/>
                </a:solidFill>
                <a:latin typeface="Fraunces"/>
              </a:rPr>
              <a:t>Stills, video + image placeholders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83280" cy="2743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95528" y="1892807"/>
            <a:ext cx="3255264" cy="2240280"/>
          </a:xfrm>
          <a:prstGeom prst="rect">
            <a:avLst/>
          </a:prstGeom>
          <a:solidFill>
            <a:srgbClr val="10201A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4187952"/>
            <a:ext cx="30540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00" b="1" i="0" spc="80">
                <a:solidFill>
                  <a:srgbClr val="16211D"/>
                </a:solidFill>
                <a:latin typeface="Space Mono"/>
              </a:rPr>
              <a:t>STILL 037</a:t>
            </a:r>
            <a:r>
              <a:rPr sz="800" b="0" i="0" spc="80">
                <a:solidFill>
                  <a:srgbClr val="56605B"/>
                </a:solidFill>
                <a:latin typeface="Space Mono"/>
              </a:rPr>
              <a:t>   LOREM IPSUM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828800"/>
            <a:ext cx="3383280" cy="2743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53128" y="1892807"/>
            <a:ext cx="3255264" cy="2240280"/>
          </a:xfrm>
          <a:prstGeom prst="rect">
            <a:avLst/>
          </a:prstGeom>
          <a:solidFill>
            <a:srgbClr val="10201A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4187952"/>
            <a:ext cx="30540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00" b="1" i="0" spc="80">
                <a:solidFill>
                  <a:srgbClr val="16211D"/>
                </a:solidFill>
                <a:latin typeface="Space Mono"/>
              </a:rPr>
              <a:t>SAMPLE REEL</a:t>
            </a:r>
            <a:r>
              <a:rPr sz="800" b="0" i="0" spc="80">
                <a:solidFill>
                  <a:srgbClr val="56605B"/>
                </a:solidFill>
                <a:latin typeface="Space Mono"/>
              </a:rPr>
              <a:t>   DOLOR SIT</a:t>
            </a:r>
          </a:p>
        </p:txBody>
      </p:sp>
      <p:sp>
        <p:nvSpPr>
          <p:cNvPr id="12" name="Oval 11"/>
          <p:cNvSpPr/>
          <p:nvPr/>
        </p:nvSpPr>
        <p:spPr>
          <a:xfrm>
            <a:off x="5806440" y="2651760"/>
            <a:ext cx="548640" cy="548640"/>
          </a:xfrm>
          <a:prstGeom prst="ellipse">
            <a:avLst/>
          </a:prstGeom>
          <a:solidFill>
            <a:srgbClr val="FBFAF6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 rot="5400000">
            <a:off x="5987491" y="2805379"/>
            <a:ext cx="219456" cy="241401"/>
          </a:xfrm>
          <a:prstGeom prst="triangle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46720" y="1828800"/>
            <a:ext cx="3383280" cy="2743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10728" y="1892807"/>
            <a:ext cx="3255264" cy="2240280"/>
          </a:xfrm>
          <a:prstGeom prst="rect">
            <a:avLst/>
          </a:prstGeom>
          <a:effectLst/>
          <a:pattFill prst="ltUpDiag">
            <a:fgClr>
              <a:srgbClr val="93D9C2"/>
            </a:fgClr>
            <a:bgClr>
              <a:srgbClr val="FBFAF6"/>
            </a:bgClr>
          </a:pattFill>
          <a:ln w="19050">
            <a:solidFill>
              <a:srgbClr val="1621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869680" y="280263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750" b="1" i="0">
                <a:solidFill>
                  <a:srgbClr val="16211D"/>
                </a:solidFill>
                <a:latin typeface="Space Mono"/>
              </a:rPr>
              <a:t>PHOTO COMING SOON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4187952"/>
            <a:ext cx="30540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00" b="1" i="0" spc="80">
                <a:solidFill>
                  <a:srgbClr val="16211D"/>
                </a:solidFill>
                <a:latin typeface="Space Mono"/>
              </a:rPr>
              <a:t>STILL 003</a:t>
            </a:r>
            <a:r>
              <a:rPr sz="800" b="0" i="0" spc="80">
                <a:solidFill>
                  <a:srgbClr val="56605B"/>
                </a:solidFill>
                <a:latin typeface="Space Mono"/>
              </a:rPr>
              <a:t>   COMING SOON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029200"/>
            <a:ext cx="3383280" cy="1188720"/>
          </a:xfrm>
          <a:prstGeom prst="roundRect">
            <a:avLst>
              <a:gd name="adj" fmla="val 9000"/>
            </a:avLst>
          </a:prstGeom>
          <a:effectLst>
            <a:outerShdw blurRad="0" dist="63500" dir="2700000" rotWithShape="0">
              <a:srgbClr val="16211D"/>
            </a:outerShdw>
          </a:effectLst>
          <a:pattFill prst="ltUpDiag">
            <a:fgClr>
              <a:srgbClr val="93D9C2"/>
            </a:fgClr>
            <a:bgClr>
              <a:srgbClr val="FBFAF6"/>
            </a:bgClr>
          </a:pattFill>
          <a:ln w="31750">
            <a:solidFill>
              <a:srgbClr val="1621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600200" y="5440680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800" b="1" i="0">
                <a:solidFill>
                  <a:srgbClr val="16211D"/>
                </a:solidFill>
                <a:latin typeface="Space Mono"/>
              </a:rPr>
              <a:t>PHOTO OF LOREM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5120640"/>
            <a:ext cx="7040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Mint diagonal stripes mark any image slot still waiting on content. Caption bar: Space Mono caps, label left + detail right in grey.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09 · LAYOUT: CHALLENGE GRID</a:t>
            </a:r>
          </a:p>
        </p:txBody>
      </p:sp>
      <p:sp>
        <p:nvSpPr>
          <p:cNvPr id="4" name="Rectangle 3"/>
          <p:cNvSpPr/>
          <p:nvPr/>
        </p:nvSpPr>
        <p:spPr>
          <a:xfrm>
            <a:off x="3396996" y="557784"/>
            <a:ext cx="8215883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800" b="1" i="0">
                <a:solidFill>
                  <a:srgbClr val="16211D"/>
                </a:solidFill>
                <a:latin typeface="Fraunces"/>
              </a:rPr>
              <a:t>Lorem ipsum dolor, the </a:t>
            </a:r>
            <a:r>
              <a:rPr sz="2800" b="1" i="0">
                <a:solidFill>
                  <a:srgbClr val="17705A"/>
                </a:solidFill>
                <a:latin typeface="Fraunces"/>
              </a:rPr>
              <a:t>critical sit amet persist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2514600" cy="2926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43000" y="2011680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850" b="1" i="0" spc="80">
                <a:solidFill>
                  <a:srgbClr val="16211D"/>
                </a:solidFill>
                <a:latin typeface="Space Mono"/>
              </a:rPr>
              <a:t>NICE LOREM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06040"/>
            <a:ext cx="2057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 i="0">
                <a:solidFill>
                  <a:srgbClr val="16211D"/>
                </a:solidFill>
                <a:latin typeface="Fraunces"/>
              </a:rPr>
              <a:t>Lorem ipsum dolor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ante.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783080"/>
            <a:ext cx="2514600" cy="2926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886200" y="2011680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850" b="1" i="0" spc="80">
                <a:solidFill>
                  <a:srgbClr val="16211D"/>
                </a:solidFill>
                <a:latin typeface="Space Mono"/>
              </a:rPr>
              <a:t>IPSUM + DOLOR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2606040"/>
            <a:ext cx="2057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 i="0">
                <a:solidFill>
                  <a:srgbClr val="16211D"/>
                </a:solidFill>
                <a:latin typeface="Fraunces"/>
              </a:rPr>
              <a:t>Lorem ipsum dolor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ante.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83080"/>
            <a:ext cx="2514600" cy="2926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29400" y="2011680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850" b="1" i="0" spc="80">
                <a:solidFill>
                  <a:srgbClr val="16211D"/>
                </a:solidFill>
                <a:latin typeface="Space Mono"/>
              </a:rPr>
              <a:t>SIT + AMET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606040"/>
            <a:ext cx="2057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 i="0">
                <a:solidFill>
                  <a:srgbClr val="16211D"/>
                </a:solidFill>
                <a:latin typeface="Fraunces"/>
              </a:rPr>
              <a:t>Lorem ipsum dolor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ante.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1783080"/>
            <a:ext cx="2514600" cy="2926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372600" y="2011680"/>
            <a:ext cx="1691640" cy="420624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850" b="1" i="0" spc="80">
                <a:solidFill>
                  <a:srgbClr val="16211D"/>
                </a:solidFill>
                <a:latin typeface="Space Mono"/>
              </a:rPr>
              <a:t>CONSECTETUR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606040"/>
            <a:ext cx="2057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 i="0">
                <a:solidFill>
                  <a:srgbClr val="16211D"/>
                </a:solidFill>
                <a:latin typeface="Fraunces"/>
              </a:rPr>
              <a:t>Lorem ipsum dolor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ante.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029200"/>
            <a:ext cx="9601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 i="1">
                <a:solidFill>
                  <a:srgbClr val="17705A"/>
                </a:solidFill>
                <a:latin typeface="Fraunces"/>
              </a:rPr>
              <a:t>Lorem ipsum dolor sit amet, consectetur adipiscing elit venenatis dapibus.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10 · LAYOUT: CLUSTER TILES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3310128" y="557784"/>
            <a:ext cx="8302752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6211D"/>
                </a:solidFill>
                <a:latin typeface="Fraunces"/>
              </a:rPr>
              <a:t>Four lorem to ipsum with 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349240" cy="2011680"/>
          </a:xfrm>
          <a:prstGeom prst="roundRect">
            <a:avLst>
              <a:gd name="adj" fmla="val 8000"/>
            </a:avLst>
          </a:prstGeom>
          <a:solidFill>
            <a:srgbClr val="93D9C2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38528"/>
            <a:ext cx="47548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 i="0" spc="140">
                <a:solidFill>
                  <a:srgbClr val="17705A"/>
                </a:solidFill>
                <a:latin typeface="Space Mono"/>
              </a:rPr>
              <a:t>CLUSTER 01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900" b="1" i="0">
                <a:solidFill>
                  <a:srgbClr val="16211D"/>
                </a:solidFill>
                <a:latin typeface="Fraunces"/>
              </a:rPr>
              <a:t>Lorem ipsum experiences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0" i="1">
                <a:solidFill>
                  <a:srgbClr val="17705A"/>
                </a:solidFill>
                <a:latin typeface="Fraunces"/>
              </a:rPr>
              <a:t>the flagship  ·  Lorem ipsum dolor sit amet, consectetur adipiscing elit.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50" b="1" i="0" spc="100">
                <a:solidFill>
                  <a:srgbClr val="16211D"/>
                </a:solidFill>
                <a:latin typeface="Space Mono"/>
              </a:rPr>
              <a:t>SEE THE LOREM 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59" y="1737360"/>
            <a:ext cx="534924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79" y="1938528"/>
            <a:ext cx="47548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 i="0" spc="140">
                <a:solidFill>
                  <a:srgbClr val="17705A"/>
                </a:solidFill>
                <a:latin typeface="Space Mono"/>
              </a:rPr>
              <a:t>CLUSTER 02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900" b="1" i="0">
                <a:solidFill>
                  <a:srgbClr val="16211D"/>
                </a:solidFill>
                <a:latin typeface="Fraunces"/>
              </a:rPr>
              <a:t>Dolor sit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0" i="1">
                <a:solidFill>
                  <a:srgbClr val="17705A"/>
                </a:solidFill>
                <a:latin typeface="Fraunces"/>
              </a:rPr>
              <a:t>the one-on-one  ·  Lorem ipsum dolor sit amet, consectetur adipiscing elit.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50" b="1" i="0" spc="100">
                <a:solidFill>
                  <a:srgbClr val="16211D"/>
                </a:solidFill>
                <a:latin typeface="Space Mono"/>
              </a:rPr>
              <a:t>SEE THE LOREM 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77639"/>
            <a:ext cx="5349240" cy="2011680"/>
          </a:xfrm>
          <a:prstGeom prst="roundRect">
            <a:avLst>
              <a:gd name="adj" fmla="val 8000"/>
            </a:avLst>
          </a:prstGeom>
          <a:solidFill>
            <a:srgbClr val="93D9C2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78807"/>
            <a:ext cx="47548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 i="0" spc="140">
                <a:solidFill>
                  <a:srgbClr val="17705A"/>
                </a:solidFill>
                <a:latin typeface="Space Mono"/>
              </a:rPr>
              <a:t>CLUSTER 03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900" b="1" i="0">
                <a:solidFill>
                  <a:srgbClr val="16211D"/>
                </a:solidFill>
                <a:latin typeface="Fraunces"/>
              </a:rPr>
              <a:t>Amet consectetur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0" i="1">
                <a:solidFill>
                  <a:srgbClr val="17705A"/>
                </a:solidFill>
                <a:latin typeface="Fraunces"/>
              </a:rPr>
              <a:t>the tailoring  ·  Lorem ipsum dolor sit amet, consectetur adipiscing elit.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50" b="1" i="0" spc="100">
                <a:solidFill>
                  <a:srgbClr val="16211D"/>
                </a:solidFill>
                <a:latin typeface="Space Mono"/>
              </a:rPr>
              <a:t>SEE THE LOREM 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3977639"/>
            <a:ext cx="534924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79" y="4178807"/>
            <a:ext cx="47548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 i="0" spc="140">
                <a:solidFill>
                  <a:srgbClr val="17705A"/>
                </a:solidFill>
                <a:latin typeface="Space Mono"/>
              </a:rPr>
              <a:t>CLUSTER 04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900" b="1" i="0">
                <a:solidFill>
                  <a:srgbClr val="16211D"/>
                </a:solidFill>
                <a:latin typeface="Fraunces"/>
              </a:rPr>
              <a:t>Adipiscing elit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0" i="1">
                <a:solidFill>
                  <a:srgbClr val="17705A"/>
                </a:solidFill>
                <a:latin typeface="Fraunces"/>
              </a:rPr>
              <a:t>the fun stuff  ·  Lorem ipsum dolor sit amet, consectetur adipiscing elit.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50" b="1" i="0" spc="100">
                <a:solidFill>
                  <a:srgbClr val="16211D"/>
                </a:solidFill>
                <a:latin typeface="Space Mono"/>
              </a:rPr>
              <a:t>SEE THE LOREM ↓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11 · ROWS, ACCORDIONS + CHIPS</a:t>
            </a:r>
          </a:p>
        </p:txBody>
      </p:sp>
      <p:sp>
        <p:nvSpPr>
          <p:cNvPr id="4" name="Rectangle 3"/>
          <p:cNvSpPr/>
          <p:nvPr/>
        </p:nvSpPr>
        <p:spPr>
          <a:xfrm>
            <a:off x="3570732" y="557784"/>
            <a:ext cx="8042148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6211D"/>
                </a:solidFill>
                <a:latin typeface="Fraunces"/>
              </a:rPr>
              <a:t>Content rows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106984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9202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16211D"/>
                </a:solidFill>
                <a:latin typeface="Fraunces"/>
              </a:rPr>
              <a:t>Lorem ipsum dolor you can't skip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1975104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1" i="0" spc="100">
                <a:solidFill>
                  <a:srgbClr val="17705A"/>
                </a:solidFill>
                <a:latin typeface="Space Mono"/>
              </a:rPr>
              <a:t>+ MORE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51760"/>
            <a:ext cx="1069848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83464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>
                <a:solidFill>
                  <a:srgbClr val="16211D"/>
                </a:solidFill>
                <a:latin typeface="Fraunces"/>
              </a:rPr>
              <a:t>Lorem coaching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834640"/>
            <a:ext cx="7315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 ante venenatis dapibus posuere velit aliquet.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9039" y="3611880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750" b="1" i="0">
                <a:solidFill>
                  <a:srgbClr val="16211D"/>
                </a:solidFill>
                <a:latin typeface="Space Mono"/>
              </a:rPr>
              <a:t>DISC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3611880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750" b="1" i="0">
                <a:solidFill>
                  <a:srgbClr val="16211D"/>
                </a:solidFill>
                <a:latin typeface="Space Mono"/>
              </a:rPr>
              <a:t>HOGAN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3611880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750" b="1" i="0">
                <a:solidFill>
                  <a:srgbClr val="16211D"/>
                </a:solidFill>
                <a:latin typeface="Space Mono"/>
              </a:rPr>
              <a:t>LSI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3891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56605B"/>
                </a:solidFill>
                <a:latin typeface="Work Sans"/>
              </a:rPr>
              <a:t>Accordion row (title + '+ MORE') and detail row (label left, copy right, chips).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9200"/>
            <a:ext cx="10698480" cy="1097280"/>
          </a:xfrm>
          <a:prstGeom prst="roundRect">
            <a:avLst>
              <a:gd name="adj" fmla="val 12000"/>
            </a:avLst>
          </a:prstGeom>
          <a:solidFill>
            <a:srgbClr val="93D9C2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57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1" i="0" spc="120">
                <a:solidFill>
                  <a:srgbClr val="17705A"/>
                </a:solidFill>
                <a:latin typeface="Space Mono"/>
              </a:rPr>
              <a:t>TOPIC CHIPS WALL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51560" y="5623560"/>
            <a:ext cx="1156716" cy="329184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750" b="1" i="0">
                <a:solidFill>
                  <a:srgbClr val="16211D"/>
                </a:solidFill>
                <a:latin typeface="Space Mono"/>
              </a:rPr>
              <a:t>LOREM IPSUM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72868" y="5623560"/>
            <a:ext cx="982980" cy="329184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750" b="1" i="0">
                <a:solidFill>
                  <a:srgbClr val="16211D"/>
                </a:solidFill>
                <a:latin typeface="Space Mono"/>
              </a:rPr>
              <a:t>DOLOR SIT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39" y="5623560"/>
            <a:ext cx="548640" cy="329184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750" b="1" i="0">
                <a:solidFill>
                  <a:srgbClr val="16211D"/>
                </a:solidFill>
                <a:latin typeface="Space Mono"/>
              </a:rPr>
              <a:t>AMET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33672" y="5623560"/>
            <a:ext cx="1156716" cy="329184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750" b="1" i="0">
                <a:solidFill>
                  <a:srgbClr val="16211D"/>
                </a:solidFill>
                <a:latin typeface="Space Mono"/>
              </a:rPr>
              <a:t>CONSECTETUR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54979" y="5623560"/>
            <a:ext cx="1069848" cy="329184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750" b="1" i="0">
                <a:solidFill>
                  <a:srgbClr val="16211D"/>
                </a:solidFill>
                <a:latin typeface="Space Mono"/>
              </a:rPr>
              <a:t>ADIPISCING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89419" y="5623560"/>
            <a:ext cx="1243584" cy="329184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750" b="1" i="0">
                <a:solidFill>
                  <a:srgbClr val="16211D"/>
                </a:solidFill>
                <a:latin typeface="Space Mono"/>
              </a:rPr>
              <a:t>ELIT INTEGER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97596" y="5623560"/>
            <a:ext cx="809244" cy="329184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750" b="1" i="0">
                <a:solidFill>
                  <a:srgbClr val="16211D"/>
                </a:solidFill>
                <a:latin typeface="Space Mono"/>
              </a:rPr>
              <a:t>POSUERE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93D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6211D"/>
                </a:solidFill>
                <a:latin typeface="Space Mono"/>
              </a:rPr>
              <a:t>12 · TESTIMONIAL CAROUSEL</a:t>
            </a:r>
          </a:p>
        </p:txBody>
      </p:sp>
      <p:sp>
        <p:nvSpPr>
          <p:cNvPr id="4" name="Rectangle 3"/>
          <p:cNvSpPr/>
          <p:nvPr/>
        </p:nvSpPr>
        <p:spPr>
          <a:xfrm>
            <a:off x="3223260" y="557784"/>
            <a:ext cx="8389620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6868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6211D"/>
                </a:solidFill>
                <a:latin typeface="Fraunces"/>
              </a:rPr>
              <a:t>In their words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657600" cy="31089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31089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 i="1">
                <a:solidFill>
                  <a:srgbClr val="16211D"/>
                </a:solidFill>
                <a:latin typeface="Fraunces"/>
              </a:rPr>
              <a:t>“Lorem ipsum dolor sit amet, consectetur adipiscing elit. Integer posuere erat a ante venenatis dapibus posuere velit aliquet.”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43484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00" b="1" i="0" spc="80">
                <a:solidFill>
                  <a:srgbClr val="56605B"/>
                </a:solidFill>
                <a:latin typeface="Space Mono"/>
              </a:rPr>
              <a:t>LOREM IPSUM · DOLOR, SIT AMET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59" y="1783080"/>
            <a:ext cx="3657600" cy="31089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79" y="2057400"/>
            <a:ext cx="31089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 i="1">
                <a:solidFill>
                  <a:srgbClr val="16211D"/>
                </a:solidFill>
                <a:latin typeface="Fraunces"/>
              </a:rPr>
              <a:t>“Lorem ipsum dolor sit amet, consectetur adipiscing elit. Integer posuere erat a ante venenatis dapibus posuere velit aliquet.”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3479" y="443484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00" b="1" i="0" spc="80">
                <a:solidFill>
                  <a:srgbClr val="56605B"/>
                </a:solidFill>
                <a:latin typeface="Space Mono"/>
              </a:rPr>
              <a:t>LOREM IPSUM · DOLOR, SIT AMET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0" y="1783080"/>
            <a:ext cx="3291840" cy="31089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0" y="2057400"/>
            <a:ext cx="246887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 i="1">
                <a:solidFill>
                  <a:srgbClr val="16211D"/>
                </a:solidFill>
                <a:latin typeface="Fraunces"/>
              </a:rPr>
              <a:t>“Lorem ipsum dolor sit amet, consectetur adipiscing elit. Integer posuere erat a ante venenatis dapibus posuere velit aliquet.”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443484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00" b="1" i="0" spc="80">
                <a:solidFill>
                  <a:srgbClr val="56605B"/>
                </a:solidFill>
                <a:latin typeface="Space Mono"/>
              </a:rPr>
              <a:t>LOREM IPSUM · DOLOR, SIT AMET</a:t>
            </a:r>
          </a:p>
        </p:txBody>
      </p:sp>
      <p:sp>
        <p:nvSpPr>
          <p:cNvPr id="15" name="Oval 14"/>
          <p:cNvSpPr/>
          <p:nvPr/>
        </p:nvSpPr>
        <p:spPr>
          <a:xfrm>
            <a:off x="10607040" y="5212080"/>
            <a:ext cx="475488" cy="475488"/>
          </a:xfrm>
          <a:prstGeom prst="ellipse">
            <a:avLst/>
          </a:prstGeom>
          <a:solidFill>
            <a:srgbClr val="FBFAF6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 i="0">
                <a:solidFill>
                  <a:srgbClr val="16211D"/>
                </a:solidFill>
                <a:latin typeface="Work Sans"/>
              </a:rPr>
              <a:t>←</a:t>
            </a:r>
          </a:p>
        </p:txBody>
      </p:sp>
      <p:sp>
        <p:nvSpPr>
          <p:cNvPr id="16" name="Oval 15"/>
          <p:cNvSpPr/>
          <p:nvPr/>
        </p:nvSpPr>
        <p:spPr>
          <a:xfrm>
            <a:off x="11201400" y="5212080"/>
            <a:ext cx="475488" cy="475488"/>
          </a:xfrm>
          <a:prstGeom prst="ellipse">
            <a:avLst/>
          </a:prstGeom>
          <a:solidFill>
            <a:srgbClr val="FBFAF6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 i="0">
                <a:solidFill>
                  <a:srgbClr val="16211D"/>
                </a:solidFill>
                <a:latin typeface="Work Sans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25780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16211D"/>
                </a:solidFill>
                <a:latin typeface="Work Sans"/>
              </a:rPr>
              <a:t>Cards sit on the mint band; peeking third card implies swipe. Arrows bottom right.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93D9C2"/>
                </a:solidFill>
                <a:latin typeface="Space Mono"/>
              </a:rPr>
              <a:t>13 · DARK BAND + TICKETS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649224"/>
            <a:ext cx="7772400" cy="254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FBFAF6"/>
                </a:solidFill>
                <a:latin typeface="Fraunces"/>
              </a:rPr>
              <a:t>A lorem ipsum traditional dolor can't offer</a:t>
            </a:r>
          </a:p>
        </p:txBody>
      </p:sp>
      <p:sp>
        <p:nvSpPr>
          <p:cNvPr id="6" name="Rounded Rectangle 5"/>
          <p:cNvSpPr/>
          <p:nvPr/>
        </p:nvSpPr>
        <p:spPr>
          <a:xfrm rot="21540000">
            <a:off x="731520" y="2194560"/>
            <a:ext cx="3474720" cy="1371600"/>
          </a:xfrm>
          <a:prstGeom prst="roundRect">
            <a:avLst>
              <a:gd name="adj" fmla="val 12000"/>
            </a:avLst>
          </a:prstGeom>
          <a:solidFill>
            <a:srgbClr val="FBFAF6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850" b="1" i="0" spc="120">
                <a:solidFill>
                  <a:srgbClr val="17705A"/>
                </a:solidFill>
                <a:latin typeface="Space Mono"/>
              </a:rPr>
              <a:t>EXPERIENCE</a:t>
            </a:r>
          </a:p>
          <a:p>
            <a:pPr algn="l"/>
            <a:r>
              <a:rPr sz="1150" b="1" i="0">
                <a:solidFill>
                  <a:srgbClr val="16211D"/>
                </a:solidFill>
                <a:latin typeface="Work Sans"/>
              </a:rPr>
              <a:t>20+ lorem in ipsum, dolor + sit</a:t>
            </a:r>
          </a:p>
        </p:txBody>
      </p:sp>
      <p:sp>
        <p:nvSpPr>
          <p:cNvPr id="7" name="Rounded Rectangle 6"/>
          <p:cNvSpPr/>
          <p:nvPr/>
        </p:nvSpPr>
        <p:spPr>
          <a:xfrm rot="60000">
            <a:off x="4480559" y="2194560"/>
            <a:ext cx="3474720" cy="1371600"/>
          </a:xfrm>
          <a:prstGeom prst="roundRect">
            <a:avLst>
              <a:gd name="adj" fmla="val 12000"/>
            </a:avLst>
          </a:prstGeom>
          <a:solidFill>
            <a:srgbClr val="FBFAF6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850" b="1" i="0" spc="120">
                <a:solidFill>
                  <a:srgbClr val="17705A"/>
                </a:solidFill>
                <a:latin typeface="Space Mono"/>
              </a:rPr>
              <a:t>BACKGROUND</a:t>
            </a:r>
          </a:p>
          <a:p>
            <a:pPr algn="l"/>
            <a:r>
              <a:rPr sz="1150" b="1" i="0">
                <a:solidFill>
                  <a:srgbClr val="16211D"/>
                </a:solidFill>
                <a:latin typeface="Work Sans"/>
              </a:rPr>
              <a:t>Senior lorem ipsum (incl. dolor + sit)</a:t>
            </a:r>
          </a:p>
        </p:txBody>
      </p:sp>
      <p:sp>
        <p:nvSpPr>
          <p:cNvPr id="8" name="Rounded Rectangle 7"/>
          <p:cNvSpPr/>
          <p:nvPr/>
        </p:nvSpPr>
        <p:spPr>
          <a:xfrm rot="21540000">
            <a:off x="8229600" y="2194560"/>
            <a:ext cx="3474720" cy="1371600"/>
          </a:xfrm>
          <a:prstGeom prst="roundRect">
            <a:avLst>
              <a:gd name="adj" fmla="val 12000"/>
            </a:avLst>
          </a:prstGeom>
          <a:solidFill>
            <a:srgbClr val="FBFAF6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850" b="1" i="0" spc="120">
                <a:solidFill>
                  <a:srgbClr val="17705A"/>
                </a:solidFill>
                <a:latin typeface="Space Mono"/>
              </a:rPr>
              <a:t>TRAINING</a:t>
            </a:r>
          </a:p>
          <a:p>
            <a:pPr algn="l"/>
            <a:r>
              <a:rPr sz="1150" b="1" i="0">
                <a:solidFill>
                  <a:srgbClr val="16211D"/>
                </a:solidFill>
                <a:latin typeface="Work Sans"/>
              </a:rPr>
              <a:t>Lorem degree + professionally ipsum</a:t>
            </a:r>
          </a:p>
        </p:txBody>
      </p:sp>
      <p:sp>
        <p:nvSpPr>
          <p:cNvPr id="9" name="Rounded Rectangle 8"/>
          <p:cNvSpPr/>
          <p:nvPr/>
        </p:nvSpPr>
        <p:spPr>
          <a:xfrm rot="60000">
            <a:off x="731520" y="3794760"/>
            <a:ext cx="3474720" cy="1371600"/>
          </a:xfrm>
          <a:prstGeom prst="roundRect">
            <a:avLst>
              <a:gd name="adj" fmla="val 12000"/>
            </a:avLst>
          </a:prstGeom>
          <a:solidFill>
            <a:srgbClr val="FBFAF6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850" b="1" i="0" spc="120">
                <a:solidFill>
                  <a:srgbClr val="17705A"/>
                </a:solidFill>
                <a:latin typeface="Space Mono"/>
              </a:rPr>
              <a:t>CRAFT</a:t>
            </a:r>
          </a:p>
          <a:p>
            <a:pPr algn="l"/>
            <a:r>
              <a:rPr sz="1150" b="1" i="0">
                <a:solidFill>
                  <a:srgbClr val="16211D"/>
                </a:solidFill>
                <a:latin typeface="Work Sans"/>
              </a:rPr>
              <a:t>Deep lorem and creative ipsum</a:t>
            </a:r>
          </a:p>
        </p:txBody>
      </p:sp>
      <p:sp>
        <p:nvSpPr>
          <p:cNvPr id="10" name="Rounded Rectangle 9"/>
          <p:cNvSpPr/>
          <p:nvPr/>
        </p:nvSpPr>
        <p:spPr>
          <a:xfrm rot="21540000">
            <a:off x="4480559" y="3794760"/>
            <a:ext cx="3474720" cy="1371600"/>
          </a:xfrm>
          <a:prstGeom prst="roundRect">
            <a:avLst>
              <a:gd name="adj" fmla="val 12000"/>
            </a:avLst>
          </a:prstGeom>
          <a:solidFill>
            <a:srgbClr val="FBFAF6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850" b="1" i="0" spc="120">
                <a:solidFill>
                  <a:srgbClr val="17705A"/>
                </a:solidFill>
                <a:latin typeface="Space Mono"/>
              </a:rPr>
              <a:t>PRODUCTION</a:t>
            </a:r>
          </a:p>
          <a:p>
            <a:pPr algn="l"/>
            <a:r>
              <a:rPr sz="1150" b="1" i="0">
                <a:solidFill>
                  <a:srgbClr val="16211D"/>
                </a:solidFill>
                <a:latin typeface="Work Sans"/>
              </a:rPr>
              <a:t>Lorem partnership with Ipsum Dolor</a:t>
            </a:r>
          </a:p>
        </p:txBody>
      </p:sp>
      <p:sp>
        <p:nvSpPr>
          <p:cNvPr id="11" name="Rounded Rectangle 10"/>
          <p:cNvSpPr/>
          <p:nvPr/>
        </p:nvSpPr>
        <p:spPr>
          <a:xfrm rot="60000">
            <a:off x="8229600" y="3794760"/>
            <a:ext cx="3474720" cy="1371600"/>
          </a:xfrm>
          <a:prstGeom prst="roundRect">
            <a:avLst>
              <a:gd name="adj" fmla="val 12000"/>
            </a:avLst>
          </a:prstGeom>
          <a:solidFill>
            <a:srgbClr val="FBFAF6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850" b="1" i="0" spc="120">
                <a:solidFill>
                  <a:srgbClr val="17705A"/>
                </a:solidFill>
                <a:latin typeface="Space Mono"/>
              </a:rPr>
              <a:t>PARTNERSHIPS</a:t>
            </a:r>
          </a:p>
          <a:p>
            <a:pPr algn="l"/>
            <a:r>
              <a:rPr sz="1150" b="1" i="0">
                <a:solidFill>
                  <a:srgbClr val="16211D"/>
                </a:solidFill>
                <a:latin typeface="Work Sans"/>
              </a:rPr>
              <a:t>High-calibre lorem + ipsum people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7607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BDC6C1"/>
                </a:solidFill>
                <a:latin typeface="Work Sans"/>
              </a:rPr>
              <a:t>Ink band: paper tickets tilted 1°, mint-deep mono labels. Mint for emphasis text on dark.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14 · BIO + PARTNER BLOCKS</a:t>
            </a:r>
          </a:p>
        </p:txBody>
      </p:sp>
      <p:sp>
        <p:nvSpPr>
          <p:cNvPr id="4" name="Rectangle 3"/>
          <p:cNvSpPr/>
          <p:nvPr/>
        </p:nvSpPr>
        <p:spPr>
          <a:xfrm>
            <a:off x="3223260" y="557784"/>
            <a:ext cx="8389620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468880" cy="3108960"/>
          </a:xfrm>
          <a:prstGeom prst="roundRect">
            <a:avLst>
              <a:gd name="adj" fmla="val 9000"/>
            </a:avLst>
          </a:prstGeom>
          <a:effectLst>
            <a:outerShdw blurRad="0" dist="63500" dir="2700000" rotWithShape="0">
              <a:srgbClr val="16211D"/>
            </a:outerShdw>
          </a:effectLst>
          <a:pattFill prst="ltUpDiag">
            <a:fgClr>
              <a:srgbClr val="93D9C2"/>
            </a:fgClr>
            <a:bgClr>
              <a:srgbClr val="FBFAF6"/>
            </a:bgClr>
          </a:pattFill>
          <a:ln w="31750">
            <a:solidFill>
              <a:srgbClr val="1621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43000" y="2834640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750" b="1" i="0">
                <a:solidFill>
                  <a:srgbClr val="16211D"/>
                </a:solidFill>
                <a:latin typeface="Space Mono"/>
              </a:rPr>
              <a:t>PHOTO OF LOREM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1463040"/>
            <a:ext cx="40233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950" b="1" i="0" spc="140">
                <a:solidFill>
                  <a:srgbClr val="17705A"/>
                </a:solidFill>
                <a:latin typeface="Space Mono"/>
              </a:rPr>
              <a:t>FOUNDER + DIRECTOR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2400" b="1" i="0">
                <a:solidFill>
                  <a:srgbClr val="16211D"/>
                </a:solidFill>
                <a:latin typeface="Fraunces"/>
              </a:rPr>
              <a:t>Lorem Ipsum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 ante venenatis dapibus posuere velit aliquet.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Lorem ipsum dolor sit amet, consectetur adipiscing elit. Cras mattis consectetur purus.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1" i="0">
                <a:solidFill>
                  <a:srgbClr val="16211D"/>
                </a:solidFill>
                <a:latin typeface="Work Sans"/>
              </a:rPr>
              <a:t>This is why lorem ipsum: dolor sit amet, consectetur.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463040"/>
            <a:ext cx="3566160" cy="31089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0" y="1737360"/>
            <a:ext cx="548640" cy="5486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550" b="1" i="0">
                <a:solidFill>
                  <a:srgbClr val="16211D"/>
                </a:solidFill>
                <a:latin typeface="Space Mono"/>
              </a:rPr>
              <a:t>LOGO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400" y="1783080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00" b="1" i="0" spc="100">
                <a:solidFill>
                  <a:srgbClr val="17705A"/>
                </a:solidFill>
                <a:latin typeface="Space Mono"/>
              </a:rPr>
              <a:t>LOREM + IPSUM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468880"/>
            <a:ext cx="30175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16211D"/>
                </a:solidFill>
                <a:latin typeface="Fraunces"/>
              </a:rPr>
              <a:t>Lorem Ipsum Consulting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0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 ante venenatis.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983480"/>
            <a:ext cx="10789920" cy="1188720"/>
          </a:xfrm>
          <a:prstGeom prst="roundRect">
            <a:avLst>
              <a:gd name="adj" fmla="val 10000"/>
            </a:avLst>
          </a:prstGeom>
          <a:solidFill>
            <a:srgbClr val="93D9C2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0" i="1">
                <a:solidFill>
                  <a:srgbClr val="16211D"/>
                </a:solidFill>
                <a:latin typeface="Fraunces"/>
              </a:rPr>
              <a:t>“Crafted by a lorem who blends ipsum, dolor, sit amet + real-world consectetur … creating a unique elit.”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15 · FORM + CONTACT BLOCKS</a:t>
            </a:r>
          </a:p>
        </p:txBody>
      </p:sp>
      <p:sp>
        <p:nvSpPr>
          <p:cNvPr id="4" name="Rectangle 3"/>
          <p:cNvSpPr/>
          <p:nvPr/>
        </p:nvSpPr>
        <p:spPr>
          <a:xfrm>
            <a:off x="3310128" y="557784"/>
            <a:ext cx="8302752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6035040" cy="4846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6459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900" b="1" i="0">
                <a:solidFill>
                  <a:srgbClr val="16211D"/>
                </a:solidFill>
                <a:latin typeface="Fraunces"/>
              </a:rPr>
              <a:t>Book a lorem ipsum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286000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16211D"/>
                </a:solidFill>
                <a:latin typeface="Work Sans"/>
              </a:rPr>
              <a:t>Name</a:t>
            </a:r>
            <a:r>
              <a:rPr sz="1100" b="1" i="0">
                <a:solidFill>
                  <a:srgbClr val="17705A"/>
                </a:solidFill>
                <a:latin typeface="Work Sans"/>
              </a:rPr>
              <a:t> *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1560" y="2560320"/>
            <a:ext cx="2606040" cy="384048"/>
          </a:xfrm>
          <a:prstGeom prst="roundRect">
            <a:avLst>
              <a:gd name="adj" fmla="val 18000"/>
            </a:avLst>
          </a:prstGeom>
          <a:solidFill>
            <a:srgbClr val="FBFAF6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0" y="2286000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16211D"/>
                </a:solidFill>
                <a:latin typeface="Work Sans"/>
              </a:rPr>
              <a:t>Lorem title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0" y="2560320"/>
            <a:ext cx="2606040" cy="384048"/>
          </a:xfrm>
          <a:prstGeom prst="roundRect">
            <a:avLst>
              <a:gd name="adj" fmla="val 18000"/>
            </a:avLst>
          </a:prstGeom>
          <a:solidFill>
            <a:srgbClr val="FBFAF6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00400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16211D"/>
                </a:solidFill>
                <a:latin typeface="Work Sans"/>
              </a:rPr>
              <a:t>Email</a:t>
            </a:r>
            <a:r>
              <a:rPr sz="1100" b="1" i="0">
                <a:solidFill>
                  <a:srgbClr val="17705A"/>
                </a:solidFill>
                <a:latin typeface="Work Sans"/>
              </a:rPr>
              <a:t> *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560" y="3474720"/>
            <a:ext cx="2606040" cy="384048"/>
          </a:xfrm>
          <a:prstGeom prst="roundRect">
            <a:avLst>
              <a:gd name="adj" fmla="val 18000"/>
            </a:avLst>
          </a:prstGeom>
          <a:solidFill>
            <a:srgbClr val="FBFAF6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0" y="3200400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16211D"/>
                </a:solidFill>
                <a:latin typeface="Work Sans"/>
              </a:rPr>
              <a:t>Ipsum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40480" y="3474720"/>
            <a:ext cx="2606040" cy="384048"/>
          </a:xfrm>
          <a:prstGeom prst="roundRect">
            <a:avLst>
              <a:gd name="adj" fmla="val 18000"/>
            </a:avLst>
          </a:prstGeom>
          <a:solidFill>
            <a:srgbClr val="FBFAF6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16052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16211D"/>
                </a:solidFill>
                <a:latin typeface="Work Sans"/>
              </a:rPr>
              <a:t>Lorem of interest (optional):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51560" y="4526280"/>
            <a:ext cx="237744" cy="237744"/>
          </a:xfrm>
          <a:prstGeom prst="rect">
            <a:avLst/>
          </a:prstGeom>
          <a:solidFill>
            <a:srgbClr val="FBFAF6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452628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16211D"/>
                </a:solidFill>
                <a:latin typeface="Work Sans"/>
              </a:rPr>
              <a:t>Lorem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51760" y="4526280"/>
            <a:ext cx="237744" cy="237744"/>
          </a:xfrm>
          <a:prstGeom prst="rect">
            <a:avLst/>
          </a:prstGeom>
          <a:solidFill>
            <a:srgbClr val="FBFAF6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71800" y="452628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16211D"/>
                </a:solidFill>
                <a:latin typeface="Work Sans"/>
              </a:rPr>
              <a:t>Ipsum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51960" y="4526280"/>
            <a:ext cx="237744" cy="237744"/>
          </a:xfrm>
          <a:prstGeom prst="rect">
            <a:avLst/>
          </a:prstGeom>
          <a:solidFill>
            <a:srgbClr val="FBFAF6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52628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16211D"/>
                </a:solidFill>
                <a:latin typeface="Work Sans"/>
              </a:rPr>
              <a:t>Dolor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51560" y="5120640"/>
            <a:ext cx="2194560" cy="475488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2540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 spc="100">
                <a:solidFill>
                  <a:srgbClr val="16211D"/>
                </a:solidFill>
                <a:latin typeface="Space Mono"/>
              </a:rPr>
              <a:t>SUBMIT FORM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0" y="1371600"/>
            <a:ext cx="420624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35240" y="164592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1" i="0">
                <a:solidFill>
                  <a:srgbClr val="16211D"/>
                </a:solidFill>
                <a:latin typeface="Fraunces"/>
              </a:rPr>
              <a:t>Lorem Ipsum</a:t>
            </a:r>
          </a:p>
        </p:txBody>
      </p:sp>
      <p:sp>
        <p:nvSpPr>
          <p:cNvPr id="25" name="Oval 24"/>
          <p:cNvSpPr/>
          <p:nvPr/>
        </p:nvSpPr>
        <p:spPr>
          <a:xfrm>
            <a:off x="7635240" y="2148840"/>
            <a:ext cx="384048" cy="384048"/>
          </a:xfrm>
          <a:prstGeom prst="ellipse">
            <a:avLst/>
          </a:prstGeom>
          <a:solidFill>
            <a:srgbClr val="93D9C2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>
                <a:solidFill>
                  <a:srgbClr val="16211D"/>
                </a:solidFill>
                <a:latin typeface="Work Sans"/>
              </a:rPr>
              <a:t>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22128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16211D"/>
                </a:solidFill>
                <a:latin typeface="Work Sans"/>
              </a:rPr>
              <a:t>+61 400 000 000</a:t>
            </a:r>
          </a:p>
        </p:txBody>
      </p:sp>
      <p:sp>
        <p:nvSpPr>
          <p:cNvPr id="27" name="Oval 26"/>
          <p:cNvSpPr/>
          <p:nvPr/>
        </p:nvSpPr>
        <p:spPr>
          <a:xfrm>
            <a:off x="7635240" y="2697480"/>
            <a:ext cx="384048" cy="384048"/>
          </a:xfrm>
          <a:prstGeom prst="ellipse">
            <a:avLst/>
          </a:prstGeom>
          <a:solidFill>
            <a:srgbClr val="93D9C2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>
                <a:solidFill>
                  <a:srgbClr val="16211D"/>
                </a:solidFill>
                <a:latin typeface="Work Sans"/>
              </a:rPr>
              <a:t>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79" y="276148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16211D"/>
                </a:solidFill>
                <a:latin typeface="Work Sans"/>
              </a:rPr>
              <a:t>lorem@ipsumdolor.com.au</a:t>
            </a:r>
          </a:p>
        </p:txBody>
      </p:sp>
      <p:sp>
        <p:nvSpPr>
          <p:cNvPr id="29" name="Oval 28"/>
          <p:cNvSpPr/>
          <p:nvPr/>
        </p:nvSpPr>
        <p:spPr>
          <a:xfrm>
            <a:off x="7635240" y="3246120"/>
            <a:ext cx="384048" cy="384048"/>
          </a:xfrm>
          <a:prstGeom prst="ellipse">
            <a:avLst/>
          </a:prstGeom>
          <a:solidFill>
            <a:srgbClr val="93D9C2"/>
          </a:solidFill>
          <a:ln w="190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>
                <a:solidFill>
                  <a:srgbClr val="16211D"/>
                </a:solidFill>
                <a:latin typeface="Work Sans"/>
              </a:rPr>
              <a:t>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83879" y="331012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16211D"/>
                </a:solidFill>
                <a:latin typeface="Work Sans"/>
              </a:rPr>
              <a:t>Head office located in Lorem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35240" y="388620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00" b="0" i="0">
                <a:solidFill>
                  <a:srgbClr val="56605B"/>
                </a:solidFill>
                <a:latin typeface="Work Sans"/>
              </a:rPr>
              <a:t>Prefer lorem? Ipsum dolor sit amet + consectetur.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16 · FOOTER BAND</a:t>
            </a:r>
          </a:p>
        </p:txBody>
      </p:sp>
      <p:sp>
        <p:nvSpPr>
          <p:cNvPr id="4" name="Rectangle 3"/>
          <p:cNvSpPr/>
          <p:nvPr/>
        </p:nvSpPr>
        <p:spPr>
          <a:xfrm>
            <a:off x="2441448" y="557784"/>
            <a:ext cx="9171432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463040"/>
            <a:ext cx="12191695" cy="402336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3840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00" b="1" i="0" spc="140">
                <a:solidFill>
                  <a:srgbClr val="93D9C2"/>
                </a:solidFill>
                <a:latin typeface="Space Mono"/>
              </a:rPr>
              <a:t>HUMAN EDGE LEADERSHIP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50" b="0" i="0">
                <a:solidFill>
                  <a:srgbClr val="BDC6C1"/>
                </a:solidFill>
                <a:latin typeface="Work Sans"/>
              </a:rPr>
              <a:t>Lorem ipsum dolor for the sit era. Real amet + no consectetur. Elit + deep integer.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1920240"/>
            <a:ext cx="27432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FBFAF6"/>
                </a:solidFill>
                <a:latin typeface="Fraunces"/>
              </a:rPr>
              <a:t>Explore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0" i="0">
                <a:solidFill>
                  <a:srgbClr val="D9DDDA"/>
                </a:solidFill>
                <a:latin typeface="Work Sans"/>
              </a:rPr>
              <a:t>Lorem ipsum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0" i="0">
                <a:solidFill>
                  <a:srgbClr val="D9DDDA"/>
                </a:solidFill>
                <a:latin typeface="Work Sans"/>
              </a:rPr>
              <a:t>Dolor sit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0" i="0">
                <a:solidFill>
                  <a:srgbClr val="D9DDDA"/>
                </a:solidFill>
                <a:latin typeface="Work Sans"/>
              </a:rPr>
              <a:t>Amet + consectetur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920240"/>
            <a:ext cx="310896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FBFAF6"/>
                </a:solidFill>
                <a:latin typeface="Fraunces"/>
              </a:rPr>
              <a:t>Contact us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0" i="0">
                <a:solidFill>
                  <a:srgbClr val="D9DDDA"/>
                </a:solidFill>
                <a:latin typeface="Work Sans"/>
              </a:rPr>
              <a:t>Lorem Ipsum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0" i="0">
                <a:solidFill>
                  <a:srgbClr val="D9DDDA"/>
                </a:solidFill>
                <a:latin typeface="Work Sans"/>
              </a:rPr>
              <a:t>+61 400 000 000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0" i="0">
                <a:solidFill>
                  <a:srgbClr val="D9DDDA"/>
                </a:solidFill>
                <a:latin typeface="Work Sans"/>
              </a:rPr>
              <a:t>lorem@ipsumdolor.com.au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663440"/>
            <a:ext cx="10698480" cy="12700"/>
          </a:xfrm>
          <a:prstGeom prst="rect">
            <a:avLst/>
          </a:prstGeom>
          <a:solidFill>
            <a:srgbClr val="4A5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8463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50" b="0" i="0">
                <a:solidFill>
                  <a:srgbClr val="BDC6C1"/>
                </a:solidFill>
                <a:latin typeface="Work Sans"/>
              </a:rPr>
              <a:t>© Lorem Ipsum Dolor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484632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50" b="0" i="0">
                <a:solidFill>
                  <a:srgbClr val="BDC6C1"/>
                </a:solidFill>
                <a:latin typeface="Work Sans"/>
              </a:rPr>
              <a:t>Made in Lorem.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